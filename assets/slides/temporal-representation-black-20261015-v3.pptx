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ce78a487074443" /><Relationship Type="http://schemas.openxmlformats.org/officeDocument/2006/relationships/extended-properties" Target="/docProps/app.xml" Id="Rcfeb2391c2b7481e" /><Relationship Type="http://schemas.openxmlformats.org/officeDocument/2006/relationships/officeDocument" Target="/ppt/presentation.xml" Id="R88914920e88746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0a95c64fb34683"/>
  </p:sldMasterIdLst>
  <p:notesMasterIdLst>
    <p:notesMasterId xmlns:r="http://schemas.openxmlformats.org/officeDocument/2006/relationships" r:id="R274aedd511294742"/>
  </p:notesMasterIdLst>
  <p:sldIdLst>
    <p:sldId xmlns:r="http://schemas.openxmlformats.org/officeDocument/2006/relationships" id="256" r:id="Reb409f39a4124ae1"/>
  </p:sldIdLst>
  <p:sldSz cx="15240000" cy="11620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562031814d45b5" /><Relationship Type="http://schemas.openxmlformats.org/officeDocument/2006/relationships/slideMaster" Target="/ppt/slideMasters/slideMaster1.xml" Id="R670a95c64fb34683" /><Relationship Type="http://schemas.openxmlformats.org/officeDocument/2006/relationships/notesMaster" Target="/ppt/notesMasters/notesMaster1.xml" Id="R274aedd511294742" /><Relationship Type="http://schemas.openxmlformats.org/officeDocument/2006/relationships/presProps" Target="/ppt/presProps.xml" Id="R9a96798544c34111" /><Relationship Type="http://schemas.openxmlformats.org/officeDocument/2006/relationships/tableStyles" Target="/ppt/tableStyles.xml" Id="R74e9bad683314bc1" /><Relationship Type="http://schemas.openxmlformats.org/officeDocument/2006/relationships/slide" Target="/ppt/slides/slide1.xml" Id="Reb409f39a4124a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765f7767df44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1cbe156b704958" /><Relationship Type="http://schemas.openxmlformats.org/officeDocument/2006/relationships/notesMaster" Target="/ppt/notesMasters/notesMaster1.xml" Id="R9dd83a12340b40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programme map for Zipeng Wu. Three levels: umbrella and thesis basis; research themes; named publications. Each of the seven peer-reviewed papers appears once, plus a published technical report. Generic literature methods are not attributed as authored papers. Research categories are a synthesis of the actual contributions, rather than a mutually exclusive taxonomy. SARAF connects similarity/retrieval with forecasting. iTARGET predicts chronological age from methylation feature vectors and is an adjacent interpretable-regression application, not time-series forecasting. Software is separately labeled. Accepted workshop work is separate from published papers; institutional record says not yet published as of 29 September 2026. Source titles and links: Time-Series Decomposition as a Standalone Task: A Mechanism-Driven Diagnostic Benchmark, ICML 2026, https://proceedings.mlr.press/v306/wu26bh.html ; Stationarity-Aware Retrieval-Augmented Time Series Forecasting, KDD 2026, https://arxiv.org/abs/2606.04135 ; A Novel Dynamically Adjusted Regressor Chain for Taxi Demand Prediction, IJCNN 2020, https://doi.org/10.1109/IJCNN48605.2020.9207160 ; Correlated Online k-Nearest Neighbors Regressor Chain for Online Multi-output Regression, ICONIP 2023, https://link.springer.com/chapter/10.1007/978-981-99-8067-3_3 ; A novel online multi-task learning for COVID-19 multi-output spatio-temporal prediction, Heliyon 2023, https://doi.org/10.1016/j.heliyon.2023.e18771 ; An Interpretable Multi-target Regression Method for Hierarchical Load Forecasting, ICONIP 2022, https://link.springer.com/chapter/10.1007/978-981-99-1648-1_1 ; iTARGET: Interpretable Tailored Age Regression for Grouped Epigenetic Traits, BIBM 2024, https://arxiv.org/abs/2501.02401 ; Non-contact ultrasound testing of batteries, Mathematics in Industry Reports 2025, https://doi.org/10.33774/miir-2025-btsjk ; Semantics-Enhanced Retrieval-Augmented Time Series Forecasting, ICML 2026 Workshop on Forecasting as a New Frontier of Intelligence, accepted/in press, https://research.birmingham.ac.uk/en/publications/semantics-enhanced-retrieval-augmented-time-series-forecasting/ . Software sources: https://systems-mechanobiology.github.io/DeTime/ ; https://github.com/ZipengWu365/TSDecompose-Benchmark ; https://zipengwu365.github.io/EchoTime/ . Foundation: supplied MRes and PhD Time Series Representation theses. PAA, SAX and SAA-SAX in the current direction are literature examples. SAX: https://www.cs.ucr.edu/~stelo/papers/DMKD03.pdf ; SAA-SAX: https://doi.org/10.1109/SSCI50451.2021.9660130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c4a77a208d4c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3597d9fe0745c1" /><Relationship Type="http://schemas.openxmlformats.org/officeDocument/2006/relationships/slideLayout" Target="/ppt/slideLayouts/slideLayout1.xml" Id="Rc084e23d142749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84e23d142749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d9c57ab514a34" /><Relationship Type="http://schemas.openxmlformats.org/officeDocument/2006/relationships/notesSlide" Target="/ppt/notesSlides/notesSlide1.xml" Id="R13ebd46bc44443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root">
            <a:extLst xmlns:a="http://schemas.openxmlformats.org/drawingml/2006/main">
              <a:ext uri="{FF2B5EF4-FFF2-40B4-BE49-F238E27FC236}">
                <a16:creationId xmlns:a16="http://schemas.microsoft.com/office/drawing/2014/main" id="{7BCFC339-E5BC-4EDA-95EA-F2254069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0500"/>
            <a:ext cx="723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2" name="root-title">
            <a:extLst xmlns:a="http://schemas.openxmlformats.org/drawingml/2006/main">
              <a:ext uri="{FF2B5EF4-FFF2-40B4-BE49-F238E27FC236}">
                <a16:creationId xmlns:a16="http://schemas.microsoft.com/office/drawing/2014/main" id="{81031180-C6B6-4661-AB91-2C592A3E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"/>
            <a:ext cx="6858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Temporal Representation</a:t>
            </a:r>
          </a:p>
        </p:txBody>
      </p:sp>
      <p:sp>
        <p:nvSpPr>
          <p:cNvPr id="3" name="root-theory">
            <a:extLst xmlns:a="http://schemas.openxmlformats.org/drawingml/2006/main">
              <a:ext uri="{FF2B5EF4-FFF2-40B4-BE49-F238E27FC236}">
                <a16:creationId xmlns:a16="http://schemas.microsoft.com/office/drawing/2014/main" id="{AC891F40-7251-4813-B19C-DB2EA243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2867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4" name="root-stem">
            <a:extLst xmlns:a="http://schemas.openxmlformats.org/drawingml/2006/main">
              <a:ext uri="{FF2B5EF4-FFF2-40B4-BE49-F238E27FC236}">
                <a16:creationId xmlns:a16="http://schemas.microsoft.com/office/drawing/2014/main" id="{35FA8459-82A6-4878-BA19-7561E84F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5250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5" name="root-branch">
            <a:extLst xmlns:a="http://schemas.openxmlformats.org/drawingml/2006/main">
              <a:ext uri="{FF2B5EF4-FFF2-40B4-BE49-F238E27FC236}">
                <a16:creationId xmlns:a16="http://schemas.microsoft.com/office/drawing/2014/main" id="{EA574254-4199-489D-ABDC-D5EF9FE5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5621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6" name="root-drop-255">
            <a:extLst xmlns:a="http://schemas.openxmlformats.org/drawingml/2006/main">
              <a:ext uri="{FF2B5EF4-FFF2-40B4-BE49-F238E27FC236}">
                <a16:creationId xmlns:a16="http://schemas.microsoft.com/office/drawing/2014/main" id="{91F822F4-69DB-4B80-8921-95427E62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5621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7" name="root-drop-720">
            <a:extLst xmlns:a="http://schemas.openxmlformats.org/drawingml/2006/main">
              <a:ext uri="{FF2B5EF4-FFF2-40B4-BE49-F238E27FC236}">
                <a16:creationId xmlns:a16="http://schemas.microsoft.com/office/drawing/2014/main" id="{C83870CC-EF11-4C3F-9569-3F27C1AC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621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8" name="root-drop-1265">
            <a:extLst xmlns:a="http://schemas.openxmlformats.org/drawingml/2006/main">
              <a:ext uri="{FF2B5EF4-FFF2-40B4-BE49-F238E27FC236}">
                <a16:creationId xmlns:a16="http://schemas.microsoft.com/office/drawing/2014/main" id="{2A86953B-47BC-4571-AD03-6391B5EB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15621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9" name="representation">
            <a:extLst xmlns:a="http://schemas.openxmlformats.org/drawingml/2006/main">
              <a:ext uri="{FF2B5EF4-FFF2-40B4-BE49-F238E27FC236}">
                <a16:creationId xmlns:a16="http://schemas.microsoft.com/office/drawing/2014/main" id="{5A154D65-2F9D-429B-BDE6-E6F760B8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10" name="representation-text">
            <a:extLst xmlns:a="http://schemas.openxmlformats.org/drawingml/2006/main">
              <a:ext uri="{FF2B5EF4-FFF2-40B4-BE49-F238E27FC236}">
                <a16:creationId xmlns:a16="http://schemas.microsoft.com/office/drawing/2014/main" id="{BDCE8A80-3504-427E-AAFC-4A022181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Decomposition</a:t>
            </a:r>
          </a:p>
        </p:txBody>
      </p:sp>
      <p:sp>
        <p:nvSpPr>
          <p:cNvPr id="11" name="similarity">
            <a:extLst xmlns:a="http://schemas.openxmlformats.org/drawingml/2006/main">
              <a:ext uri="{FF2B5EF4-FFF2-40B4-BE49-F238E27FC236}">
                <a16:creationId xmlns:a16="http://schemas.microsoft.com/office/drawing/2014/main" id="{B7D7FA3C-116F-46CA-8599-9AC9F18C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0500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12" name="similarity-text">
            <a:extLst xmlns:a="http://schemas.openxmlformats.org/drawingml/2006/main">
              <a:ext uri="{FF2B5EF4-FFF2-40B4-BE49-F238E27FC236}">
                <a16:creationId xmlns:a16="http://schemas.microsoft.com/office/drawing/2014/main" id="{9C83FEBF-4FC3-41D5-9ED9-27E3116F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9812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Similarity &amp;</a:t>
            </a:r>
          </a:p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13" name="prediction">
            <a:extLst xmlns:a="http://schemas.openxmlformats.org/drawingml/2006/main">
              <a:ext uri="{FF2B5EF4-FFF2-40B4-BE49-F238E27FC236}">
                <a16:creationId xmlns:a16="http://schemas.microsoft.com/office/drawing/2014/main" id="{CA0281F7-5C28-4A89-A37A-D11CDE08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05000"/>
            <a:ext cx="5619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00000"/>
            </a:solidFill>
            <a:prstDash val="solid"/>
          </a:ln>
        </p:spPr>
      </p:sp>
      <p:sp>
        <p:nvSpPr>
          <p:cNvPr id="14" name="prediction-text">
            <a:extLst xmlns:a="http://schemas.openxmlformats.org/drawingml/2006/main">
              <a:ext uri="{FF2B5EF4-FFF2-40B4-BE49-F238E27FC236}">
                <a16:creationId xmlns:a16="http://schemas.microsoft.com/office/drawing/2014/main" id="{3BF1E82F-EF16-4DE2-B19C-F0F3ADF8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81200"/>
            <a:ext cx="5391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Prediction &amp;</a:t>
            </a:r>
          </a:p>
          <a:p xmlns:a="http://schemas.openxmlformats.org/drawingml/2006/main">
            <a:pPr algn="ctr">
              <a:buNone/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15" name="representation-output-stem">
            <a:extLst xmlns:a="http://schemas.openxmlformats.org/drawingml/2006/main">
              <a:ext uri="{FF2B5EF4-FFF2-40B4-BE49-F238E27FC236}">
                <a16:creationId xmlns:a16="http://schemas.microsoft.com/office/drawing/2014/main" id="{1BFB49C7-AA6F-48F0-8272-CF4E6A7F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6225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16" name="representation-output-branch">
            <a:extLst xmlns:a="http://schemas.openxmlformats.org/drawingml/2006/main">
              <a:ext uri="{FF2B5EF4-FFF2-40B4-BE49-F238E27FC236}">
                <a16:creationId xmlns:a16="http://schemas.microsoft.com/office/drawing/2014/main" id="{70095383-D839-4714-9B26-D542DDFF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92417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17" name="representation-output-spine">
            <a:extLst xmlns:a="http://schemas.openxmlformats.org/drawingml/2006/main">
              <a:ext uri="{FF2B5EF4-FFF2-40B4-BE49-F238E27FC236}">
                <a16:creationId xmlns:a16="http://schemas.microsoft.com/office/drawing/2014/main" id="{A58244AC-1707-4BD8-9C06-EFD95503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924175"/>
            <a:ext cx="0" cy="490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18" name="representation-output-415">
            <a:extLst xmlns:a="http://schemas.openxmlformats.org/drawingml/2006/main">
              <a:ext uri="{FF2B5EF4-FFF2-40B4-BE49-F238E27FC236}">
                <a16:creationId xmlns:a16="http://schemas.microsoft.com/office/drawing/2014/main" id="{CF3A85EE-482D-43CD-A66E-7A224989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9528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19" name="representation-output-622">
            <a:extLst xmlns:a="http://schemas.openxmlformats.org/drawingml/2006/main">
              <a:ext uri="{FF2B5EF4-FFF2-40B4-BE49-F238E27FC236}">
                <a16:creationId xmlns:a16="http://schemas.microsoft.com/office/drawing/2014/main" id="{3B9D5701-D1F3-41DD-A2E8-9C8E1FE9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59245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0" name="representation-output-822">
            <a:extLst xmlns:a="http://schemas.openxmlformats.org/drawingml/2006/main">
              <a:ext uri="{FF2B5EF4-FFF2-40B4-BE49-F238E27FC236}">
                <a16:creationId xmlns:a16="http://schemas.microsoft.com/office/drawing/2014/main" id="{76C7CD8F-859D-406D-A903-342BFC9A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78295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1" name="similarity-output-stem">
            <a:extLst xmlns:a="http://schemas.openxmlformats.org/drawingml/2006/main">
              <a:ext uri="{FF2B5EF4-FFF2-40B4-BE49-F238E27FC236}">
                <a16:creationId xmlns:a16="http://schemas.microsoft.com/office/drawing/2014/main" id="{A05ABB4A-CDB4-4CE4-AFA1-524EA238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6225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2" name="similarity-output-branch">
            <a:extLst xmlns:a="http://schemas.openxmlformats.org/drawingml/2006/main">
              <a:ext uri="{FF2B5EF4-FFF2-40B4-BE49-F238E27FC236}">
                <a16:creationId xmlns:a16="http://schemas.microsoft.com/office/drawing/2014/main" id="{17515B60-1AC2-4B2F-B5E8-B3AAE9A0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2417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3" name="similarity-output-spine">
            <a:extLst xmlns:a="http://schemas.openxmlformats.org/drawingml/2006/main">
              <a:ext uri="{FF2B5EF4-FFF2-40B4-BE49-F238E27FC236}">
                <a16:creationId xmlns:a16="http://schemas.microsoft.com/office/drawing/2014/main" id="{22295600-0CFB-4444-BD3A-A0188DE7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24175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4" name="similarity-output-415">
            <a:extLst xmlns:a="http://schemas.openxmlformats.org/drawingml/2006/main">
              <a:ext uri="{FF2B5EF4-FFF2-40B4-BE49-F238E27FC236}">
                <a16:creationId xmlns:a16="http://schemas.microsoft.com/office/drawing/2014/main" id="{08CE2F8F-EEE3-4157-892F-001D511F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528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5" name="similarity-output-622">
            <a:extLst xmlns:a="http://schemas.openxmlformats.org/drawingml/2006/main">
              <a:ext uri="{FF2B5EF4-FFF2-40B4-BE49-F238E27FC236}">
                <a16:creationId xmlns:a16="http://schemas.microsoft.com/office/drawing/2014/main" id="{BDE83336-B64E-4CF8-B2B0-C7D173A6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24550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6" name="prediction-output-stem">
            <a:extLst xmlns:a="http://schemas.openxmlformats.org/drawingml/2006/main">
              <a:ext uri="{FF2B5EF4-FFF2-40B4-BE49-F238E27FC236}">
                <a16:creationId xmlns:a16="http://schemas.microsoft.com/office/drawing/2014/main" id="{13A4F2EA-F3E6-4827-8B21-5029FFFB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276225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7" name="prediction-output-branch">
            <a:extLst xmlns:a="http://schemas.openxmlformats.org/drawingml/2006/main">
              <a:ext uri="{FF2B5EF4-FFF2-40B4-BE49-F238E27FC236}">
                <a16:creationId xmlns:a16="http://schemas.microsoft.com/office/drawing/2014/main" id="{A27C6707-4CE8-4058-82E3-6EB89815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24175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8" name="prediction-output-spine">
            <a:extLst xmlns:a="http://schemas.openxmlformats.org/drawingml/2006/main">
              <a:ext uri="{FF2B5EF4-FFF2-40B4-BE49-F238E27FC236}">
                <a16:creationId xmlns:a16="http://schemas.microsoft.com/office/drawing/2014/main" id="{11A42D6A-9170-4ABF-B29E-505D6657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24175"/>
            <a:ext cx="0" cy="4552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29" name="prediction-output-475">
            <a:extLst xmlns:a="http://schemas.openxmlformats.org/drawingml/2006/main">
              <a:ext uri="{FF2B5EF4-FFF2-40B4-BE49-F238E27FC236}">
                <a16:creationId xmlns:a16="http://schemas.microsoft.com/office/drawing/2014/main" id="{97CC1D8E-FF20-4054-80BA-7818D60A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52437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30" name="prediction-output-785">
            <a:extLst xmlns:a="http://schemas.openxmlformats.org/drawingml/2006/main">
              <a:ext uri="{FF2B5EF4-FFF2-40B4-BE49-F238E27FC236}">
                <a16:creationId xmlns:a16="http://schemas.microsoft.com/office/drawing/2014/main" id="{3051565D-F3CD-4655-9471-018B707B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7477125"/>
            <a:ext cx="142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31" name="retrieval-prediction-link">
            <a:extLst xmlns:a="http://schemas.openxmlformats.org/drawingml/2006/main">
              <a:ext uri="{FF2B5EF4-FFF2-40B4-BE49-F238E27FC236}">
                <a16:creationId xmlns:a16="http://schemas.microsoft.com/office/drawing/2014/main" id="{C5B6282A-6D24-41F8-9C90-5708462B2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3362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32" name="decomposition-paper">
            <a:extLst xmlns:a="http://schemas.openxmlformats.org/drawingml/2006/main">
              <a:ext uri="{FF2B5EF4-FFF2-40B4-BE49-F238E27FC236}">
                <a16:creationId xmlns:a16="http://schemas.microsoft.com/office/drawing/2014/main" id="{C3D77EEC-12E3-44D7-8C65-82036064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95625"/>
            <a:ext cx="4095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33" name="decomposition-paper-title">
            <a:extLst xmlns:a="http://schemas.openxmlformats.org/drawingml/2006/main">
              <a:ext uri="{FF2B5EF4-FFF2-40B4-BE49-F238E27FC236}">
                <a16:creationId xmlns:a16="http://schemas.microsoft.com/office/drawing/2014/main" id="{738F4CB5-6513-4D80-8D9A-61336860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90875"/>
            <a:ext cx="3867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Time-Series Decomposition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as a Standalone Task</a:t>
            </a:r>
          </a:p>
        </p:txBody>
      </p:sp>
      <p:sp>
        <p:nvSpPr>
          <p:cNvPr id="34" name="decomposition-paper-detail">
            <a:extLst xmlns:a="http://schemas.openxmlformats.org/drawingml/2006/main">
              <a:ext uri="{FF2B5EF4-FFF2-40B4-BE49-F238E27FC236}">
                <a16:creationId xmlns:a16="http://schemas.microsoft.com/office/drawing/2014/main" id="{89A4480C-C862-487F-A0F1-FD59BBFE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14775"/>
            <a:ext cx="386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Component recovery and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mechanism-driven evaluation</a:t>
            </a:r>
          </a:p>
        </p:txBody>
      </p:sp>
      <p:sp>
        <p:nvSpPr>
          <p:cNvPr id="35" name="decomposition-paper-venue">
            <a:extLst xmlns:a="http://schemas.openxmlformats.org/drawingml/2006/main">
              <a:ext uri="{FF2B5EF4-FFF2-40B4-BE49-F238E27FC236}">
                <a16:creationId xmlns:a16="http://schemas.microsoft.com/office/drawing/2014/main" id="{80D84F26-3C28-4EC3-AC9B-E986D264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98645"/>
            <a:ext cx="38671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ICML 2026</a:t>
            </a:r>
          </a:p>
        </p:txBody>
      </p:sp>
      <p:sp>
        <p:nvSpPr>
          <p:cNvPr id="36" name="battery-report">
            <a:extLst xmlns:a="http://schemas.openxmlformats.org/drawingml/2006/main">
              <a:ext uri="{FF2B5EF4-FFF2-40B4-BE49-F238E27FC236}">
                <a16:creationId xmlns:a16="http://schemas.microsoft.com/office/drawing/2014/main" id="{9D0541BB-657D-4FDF-AFDC-142A2638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191125"/>
            <a:ext cx="4095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37" name="battery-report-title">
            <a:extLst xmlns:a="http://schemas.openxmlformats.org/drawingml/2006/main">
              <a:ext uri="{FF2B5EF4-FFF2-40B4-BE49-F238E27FC236}">
                <a16:creationId xmlns:a16="http://schemas.microsoft.com/office/drawing/2014/main" id="{C83E104E-2CAE-424E-AC33-05BB3074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05425"/>
            <a:ext cx="3867150" cy="6200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Non-contact Ultrasound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Testing of Batteries</a:t>
            </a:r>
          </a:p>
        </p:txBody>
      </p:sp>
      <p:sp>
        <p:nvSpPr>
          <p:cNvPr id="38" name="battery-report-detail">
            <a:extLst xmlns:a="http://schemas.openxmlformats.org/drawingml/2006/main">
              <a:ext uri="{FF2B5EF4-FFF2-40B4-BE49-F238E27FC236}">
                <a16:creationId xmlns:a16="http://schemas.microsoft.com/office/drawing/2014/main" id="{888CE619-255F-4918-AA07-DFE90137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55494"/>
            <a:ext cx="3867150" cy="398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Signal features and acoustic modelling</a:t>
            </a:r>
          </a:p>
        </p:txBody>
      </p:sp>
      <p:sp>
        <p:nvSpPr>
          <p:cNvPr id="39" name="battery-report-venue">
            <a:extLst xmlns:a="http://schemas.openxmlformats.org/drawingml/2006/main">
              <a:ext uri="{FF2B5EF4-FFF2-40B4-BE49-F238E27FC236}">
                <a16:creationId xmlns:a16="http://schemas.microsoft.com/office/drawing/2014/main" id="{32A5782E-BA6B-463F-9E71-50FE9645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13170"/>
            <a:ext cx="386715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MIIR 2025 (technical report)</a:t>
            </a:r>
          </a:p>
        </p:txBody>
      </p:sp>
      <p:sp>
        <p:nvSpPr>
          <p:cNvPr id="40" name="representation-software">
            <a:extLst xmlns:a="http://schemas.openxmlformats.org/drawingml/2006/main">
              <a:ext uri="{FF2B5EF4-FFF2-40B4-BE49-F238E27FC236}">
                <a16:creationId xmlns:a16="http://schemas.microsoft.com/office/drawing/2014/main" id="{2E42C5B2-8769-4287-BE4E-FB1773F5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143750"/>
            <a:ext cx="4095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41" name="representation-software-heading">
            <a:extLst xmlns:a="http://schemas.openxmlformats.org/drawingml/2006/main">
              <a:ext uri="{FF2B5EF4-FFF2-40B4-BE49-F238E27FC236}">
                <a16:creationId xmlns:a16="http://schemas.microsoft.com/office/drawing/2014/main" id="{A09D57E0-FFA5-4526-8EC6-E822A8F2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58050"/>
            <a:ext cx="3867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software</a:t>
            </a:r>
          </a:p>
        </p:txBody>
      </p:sp>
      <p:sp>
        <p:nvSpPr>
          <p:cNvPr id="42" name="representation-software-body">
            <a:extLst xmlns:a="http://schemas.openxmlformats.org/drawingml/2006/main">
              <a:ext uri="{FF2B5EF4-FFF2-40B4-BE49-F238E27FC236}">
                <a16:creationId xmlns:a16="http://schemas.microsoft.com/office/drawing/2014/main" id="{F81F9468-CEC1-4E4D-8293-DE65EAA7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39050"/>
            <a:ext cx="386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DeTime</a:t>
            </a:r>
          </a:p>
          <a:p xmlns:a="http://schemas.openxmlformats.org/drawingml/2006/main">
            <a:pPr algn="ctr">
              <a:buNone/>
              <a:defRPr sz="20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TSDecompose-Benchmark</a:t>
            </a:r>
          </a:p>
        </p:txBody>
      </p:sp>
      <p:sp>
        <p:nvSpPr>
          <p:cNvPr id="43" name="saraf-paper">
            <a:extLst xmlns:a="http://schemas.openxmlformats.org/drawingml/2006/main">
              <a:ext uri="{FF2B5EF4-FFF2-40B4-BE49-F238E27FC236}">
                <a16:creationId xmlns:a16="http://schemas.microsoft.com/office/drawing/2014/main" id="{7DBB8DA2-152A-410F-B592-E0FFC205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95625"/>
            <a:ext cx="4095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44" name="saraf-paper-title">
            <a:extLst xmlns:a="http://schemas.openxmlformats.org/drawingml/2006/main">
              <a:ext uri="{FF2B5EF4-FFF2-40B4-BE49-F238E27FC236}">
                <a16:creationId xmlns:a16="http://schemas.microsoft.com/office/drawing/2014/main" id="{6797D883-C95A-4538-B657-37455F7C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190875"/>
            <a:ext cx="3867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Stationarity-Aware Retrieval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Augmented Forecasting</a:t>
            </a:r>
          </a:p>
        </p:txBody>
      </p:sp>
      <p:sp>
        <p:nvSpPr>
          <p:cNvPr id="45" name="saraf-paper-detail">
            <a:extLst xmlns:a="http://schemas.openxmlformats.org/drawingml/2006/main">
              <a:ext uri="{FF2B5EF4-FFF2-40B4-BE49-F238E27FC236}">
                <a16:creationId xmlns:a16="http://schemas.microsoft.com/office/drawing/2014/main" id="{5E1FED18-893D-489D-8DF6-248F5413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914775"/>
            <a:ext cx="386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Similarity-based retrieval with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stationarity-aware selection</a:t>
            </a:r>
          </a:p>
        </p:txBody>
      </p:sp>
      <p:sp>
        <p:nvSpPr>
          <p:cNvPr id="46" name="saraf-paper-venue">
            <a:extLst xmlns:a="http://schemas.openxmlformats.org/drawingml/2006/main">
              <a:ext uri="{FF2B5EF4-FFF2-40B4-BE49-F238E27FC236}">
                <a16:creationId xmlns:a16="http://schemas.microsoft.com/office/drawing/2014/main" id="{178900B7-F520-4CFE-84AE-7CBFDFBE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398645"/>
            <a:ext cx="386715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SARAF, KDD 2026</a:t>
            </a:r>
          </a:p>
        </p:txBody>
      </p:sp>
      <p:sp>
        <p:nvSpPr>
          <p:cNvPr id="47" name="similarity-software">
            <a:extLst xmlns:a="http://schemas.openxmlformats.org/drawingml/2006/main">
              <a:ext uri="{FF2B5EF4-FFF2-40B4-BE49-F238E27FC236}">
                <a16:creationId xmlns:a16="http://schemas.microsoft.com/office/drawing/2014/main" id="{3F68F7D8-D97F-49F1-A78F-2A5B714F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191125"/>
            <a:ext cx="4095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48" name="similarity-software-heading">
            <a:extLst xmlns:a="http://schemas.openxmlformats.org/drawingml/2006/main">
              <a:ext uri="{FF2B5EF4-FFF2-40B4-BE49-F238E27FC236}">
                <a16:creationId xmlns:a16="http://schemas.microsoft.com/office/drawing/2014/main" id="{47C87421-32C3-4CC8-8A4B-029A4F93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314950"/>
            <a:ext cx="3867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software</a:t>
            </a:r>
          </a:p>
        </p:txBody>
      </p:sp>
      <p:sp>
        <p:nvSpPr>
          <p:cNvPr id="49" name="similarity-software-name">
            <a:extLst xmlns:a="http://schemas.openxmlformats.org/drawingml/2006/main">
              <a:ext uri="{FF2B5EF4-FFF2-40B4-BE49-F238E27FC236}">
                <a16:creationId xmlns:a16="http://schemas.microsoft.com/office/drawing/2014/main" id="{8475546D-420D-4D37-8CAA-8426A4C8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724525"/>
            <a:ext cx="3867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EchoTime</a:t>
            </a:r>
          </a:p>
        </p:txBody>
      </p:sp>
      <p:sp>
        <p:nvSpPr>
          <p:cNvPr id="50" name="similarity-software-description">
            <a:extLst xmlns:a="http://schemas.openxmlformats.org/drawingml/2006/main">
              <a:ext uri="{FF2B5EF4-FFF2-40B4-BE49-F238E27FC236}">
                <a16:creationId xmlns:a16="http://schemas.microsoft.com/office/drawing/2014/main" id="{088A8760-D5C2-4B9A-8581-38B40C11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6191250"/>
            <a:ext cx="3867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Explainable structural similarity</a:t>
            </a:r>
          </a:p>
        </p:txBody>
      </p:sp>
      <p:sp>
        <p:nvSpPr>
          <p:cNvPr id="51" name="retrieval-relationship">
            <a:extLst xmlns:a="http://schemas.openxmlformats.org/drawingml/2006/main">
              <a:ext uri="{FF2B5EF4-FFF2-40B4-BE49-F238E27FC236}">
                <a16:creationId xmlns:a16="http://schemas.microsoft.com/office/drawing/2014/main" id="{57DE2660-BC68-4306-B160-49B7702D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7286625"/>
            <a:ext cx="38671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SARAF connects retrieval</a:t>
            </a:r>
          </a:p>
          <a:p xmlns:a="http://schemas.openxmlformats.org/drawingml/2006/main">
            <a:pPr algn="ctr">
              <a:buNone/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 forecasting.</a:t>
            </a:r>
          </a:p>
        </p:txBody>
      </p:sp>
      <p:sp>
        <p:nvSpPr>
          <p:cNvPr id="52" name="dependencies">
            <a:extLst xmlns:a="http://schemas.openxmlformats.org/drawingml/2006/main">
              <a:ext uri="{FF2B5EF4-FFF2-40B4-BE49-F238E27FC236}">
                <a16:creationId xmlns:a16="http://schemas.microsoft.com/office/drawing/2014/main" id="{EF1A906A-17EE-491F-BF9F-9E6CF469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0375"/>
            <a:ext cx="56197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53" name="dependencies-title">
            <a:extLst xmlns:a="http://schemas.openxmlformats.org/drawingml/2006/main">
              <a:ext uri="{FF2B5EF4-FFF2-40B4-BE49-F238E27FC236}">
                <a16:creationId xmlns:a16="http://schemas.microsoft.com/office/drawing/2014/main" id="{5E119E18-D2D6-4401-AD42-7F84427A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67050"/>
            <a:ext cx="539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 Dependencies &amp; Online Learning</a:t>
            </a:r>
          </a:p>
        </p:txBody>
      </p:sp>
      <p:sp>
        <p:nvSpPr>
          <p:cNvPr id="54" name="dependencies-header-line">
            <a:extLst xmlns:a="http://schemas.openxmlformats.org/drawingml/2006/main">
              <a:ext uri="{FF2B5EF4-FFF2-40B4-BE49-F238E27FC236}">
                <a16:creationId xmlns:a16="http://schemas.microsoft.com/office/drawing/2014/main" id="{81DD3BF8-91D2-4B73-83FF-E912945B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76625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55" name="taxi-title">
            <a:extLst xmlns:a="http://schemas.openxmlformats.org/drawingml/2006/main">
              <a:ext uri="{FF2B5EF4-FFF2-40B4-BE49-F238E27FC236}">
                <a16:creationId xmlns:a16="http://schemas.microsoft.com/office/drawing/2014/main" id="{788D201D-E527-40C0-A080-6A72121E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24250"/>
            <a:ext cx="5391150" cy="300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Dynamic regressor chains</a:t>
            </a:r>
          </a:p>
        </p:txBody>
      </p:sp>
      <p:sp>
        <p:nvSpPr>
          <p:cNvPr id="56" name="taxi-detail">
            <a:extLst xmlns:a="http://schemas.openxmlformats.org/drawingml/2006/main">
              <a:ext uri="{FF2B5EF4-FFF2-40B4-BE49-F238E27FC236}">
                <a16:creationId xmlns:a16="http://schemas.microsoft.com/office/drawing/2014/main" id="{CC65FE55-B5ED-4799-9297-6135C07C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02380"/>
            <a:ext cx="5391150" cy="231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Taxi demand prediction</a:t>
            </a:r>
          </a:p>
        </p:txBody>
      </p:sp>
      <p:sp>
        <p:nvSpPr>
          <p:cNvPr id="57" name="taxi-venue">
            <a:extLst xmlns:a="http://schemas.openxmlformats.org/drawingml/2006/main">
              <a:ext uri="{FF2B5EF4-FFF2-40B4-BE49-F238E27FC236}">
                <a16:creationId xmlns:a16="http://schemas.microsoft.com/office/drawing/2014/main" id="{E745D7D9-F7EE-40BF-8354-5402934D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85273"/>
            <a:ext cx="5391150" cy="197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IJCNN 2020</a:t>
            </a:r>
          </a:p>
        </p:txBody>
      </p:sp>
      <p:sp>
        <p:nvSpPr>
          <p:cNvPr id="58" name="dependencies-row-line-1">
            <a:extLst xmlns:a="http://schemas.openxmlformats.org/drawingml/2006/main">
              <a:ext uri="{FF2B5EF4-FFF2-40B4-BE49-F238E27FC236}">
                <a16:creationId xmlns:a16="http://schemas.microsoft.com/office/drawing/2014/main" id="{C321ABED-7F09-4E76-A765-E1B47F41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33875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59" name="connrc-title">
            <a:extLst xmlns:a="http://schemas.openxmlformats.org/drawingml/2006/main">
              <a:ext uri="{FF2B5EF4-FFF2-40B4-BE49-F238E27FC236}">
                <a16:creationId xmlns:a16="http://schemas.microsoft.com/office/drawing/2014/main" id="{DD576909-809B-4B1C-9FAD-299CFAA8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81500"/>
            <a:ext cx="5391150" cy="300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Correlated online kNN regressor chains</a:t>
            </a:r>
          </a:p>
        </p:txBody>
      </p:sp>
      <p:sp>
        <p:nvSpPr>
          <p:cNvPr id="60" name="connrc-detail">
            <a:extLst xmlns:a="http://schemas.openxmlformats.org/drawingml/2006/main">
              <a:ext uri="{FF2B5EF4-FFF2-40B4-BE49-F238E27FC236}">
                <a16:creationId xmlns:a16="http://schemas.microsoft.com/office/drawing/2014/main" id="{57C2B4F3-E72F-4278-B91A-90E52A1B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59630"/>
            <a:ext cx="5391150" cy="231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Online multi-output regression</a:t>
            </a:r>
          </a:p>
        </p:txBody>
      </p:sp>
      <p:sp>
        <p:nvSpPr>
          <p:cNvPr id="61" name="connrc-venue">
            <a:extLst xmlns:a="http://schemas.openxmlformats.org/drawingml/2006/main">
              <a:ext uri="{FF2B5EF4-FFF2-40B4-BE49-F238E27FC236}">
                <a16:creationId xmlns:a16="http://schemas.microsoft.com/office/drawing/2014/main" id="{54DAE9CA-DECC-45EC-A12F-CA2B0CA0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42523"/>
            <a:ext cx="5391150" cy="197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ICONIP 2023</a:t>
            </a:r>
          </a:p>
        </p:txBody>
      </p:sp>
      <p:sp>
        <p:nvSpPr>
          <p:cNvPr id="62" name="dependencies-row-line-2">
            <a:extLst xmlns:a="http://schemas.openxmlformats.org/drawingml/2006/main">
              <a:ext uri="{FF2B5EF4-FFF2-40B4-BE49-F238E27FC236}">
                <a16:creationId xmlns:a16="http://schemas.microsoft.com/office/drawing/2014/main" id="{ECD5CD29-2104-49A3-A4DC-F9BCDB07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191125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63" name="covid-title">
            <a:extLst xmlns:a="http://schemas.openxmlformats.org/drawingml/2006/main">
              <a:ext uri="{FF2B5EF4-FFF2-40B4-BE49-F238E27FC236}">
                <a16:creationId xmlns:a16="http://schemas.microsoft.com/office/drawing/2014/main" id="{57FC9409-9D43-4111-9DBC-A5A062EE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238750"/>
            <a:ext cx="5391150" cy="3000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Online multi-task learning</a:t>
            </a:r>
          </a:p>
        </p:txBody>
      </p:sp>
      <p:sp>
        <p:nvSpPr>
          <p:cNvPr id="64" name="covid-detail">
            <a:extLst xmlns:a="http://schemas.openxmlformats.org/drawingml/2006/main">
              <a:ext uri="{FF2B5EF4-FFF2-40B4-BE49-F238E27FC236}">
                <a16:creationId xmlns:a16="http://schemas.microsoft.com/office/drawing/2014/main" id="{294E198A-4590-4B48-8C65-05CAF9A9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516880"/>
            <a:ext cx="5391150" cy="2314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COVID-19 spatiotemporal prediction</a:t>
            </a:r>
          </a:p>
        </p:txBody>
      </p:sp>
      <p:sp>
        <p:nvSpPr>
          <p:cNvPr id="65" name="covid-venue">
            <a:extLst xmlns:a="http://schemas.openxmlformats.org/drawingml/2006/main">
              <a:ext uri="{FF2B5EF4-FFF2-40B4-BE49-F238E27FC236}">
                <a16:creationId xmlns:a16="http://schemas.microsoft.com/office/drawing/2014/main" id="{A0D36C79-7056-4577-B1C1-ACF9B66D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799773"/>
            <a:ext cx="5391150" cy="197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Heliyon 2023</a:t>
            </a:r>
          </a:p>
        </p:txBody>
      </p:sp>
      <p:sp>
        <p:nvSpPr>
          <p:cNvPr id="66" name="interpretability">
            <a:extLst xmlns:a="http://schemas.openxmlformats.org/drawingml/2006/main">
              <a:ext uri="{FF2B5EF4-FFF2-40B4-BE49-F238E27FC236}">
                <a16:creationId xmlns:a16="http://schemas.microsoft.com/office/drawing/2014/main" id="{8A3C6A7C-5AED-4078-B8BF-272EEAC9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29375"/>
            <a:ext cx="5619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67" name="interpretability-title">
            <a:extLst xmlns:a="http://schemas.openxmlformats.org/drawingml/2006/main">
              <a:ext uri="{FF2B5EF4-FFF2-40B4-BE49-F238E27FC236}">
                <a16:creationId xmlns:a16="http://schemas.microsoft.com/office/drawing/2014/main" id="{C0BF537D-89A5-48E5-B71F-33662201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496050"/>
            <a:ext cx="539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Interpretable Prediction</a:t>
            </a:r>
          </a:p>
        </p:txBody>
      </p:sp>
      <p:sp>
        <p:nvSpPr>
          <p:cNvPr id="68" name="interpretability-header-line">
            <a:extLst xmlns:a="http://schemas.openxmlformats.org/drawingml/2006/main">
              <a:ext uri="{FF2B5EF4-FFF2-40B4-BE49-F238E27FC236}">
                <a16:creationId xmlns:a16="http://schemas.microsoft.com/office/drawing/2014/main" id="{AF3C6A97-7B58-49C3-9F95-2DD62703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905625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69" name="load-title">
            <a:extLst xmlns:a="http://schemas.openxmlformats.org/drawingml/2006/main">
              <a:ext uri="{FF2B5EF4-FFF2-40B4-BE49-F238E27FC236}">
                <a16:creationId xmlns:a16="http://schemas.microsoft.com/office/drawing/2014/main" id="{EB3985F4-C573-44AC-A7C6-07A0E470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953250"/>
            <a:ext cx="5391150" cy="283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Hierarchical load forecasting</a:t>
            </a:r>
          </a:p>
        </p:txBody>
      </p:sp>
      <p:sp>
        <p:nvSpPr>
          <p:cNvPr id="70" name="load-detail">
            <a:extLst xmlns:a="http://schemas.openxmlformats.org/drawingml/2006/main">
              <a:ext uri="{FF2B5EF4-FFF2-40B4-BE49-F238E27FC236}">
                <a16:creationId xmlns:a16="http://schemas.microsoft.com/office/drawing/2014/main" id="{FB4D4128-6CE3-4EF4-ABB2-21846CB1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213283"/>
            <a:ext cx="5391150" cy="218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Interpretable multi-target regression</a:t>
            </a:r>
          </a:p>
        </p:txBody>
      </p:sp>
      <p:sp>
        <p:nvSpPr>
          <p:cNvPr id="71" name="load-venue">
            <a:extLst xmlns:a="http://schemas.openxmlformats.org/drawingml/2006/main">
              <a:ext uri="{FF2B5EF4-FFF2-40B4-BE49-F238E27FC236}">
                <a16:creationId xmlns:a16="http://schemas.microsoft.com/office/drawing/2014/main" id="{248D3E1C-E96E-410F-A31C-017A17E5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480459"/>
            <a:ext cx="5391150" cy="186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ICONIP 2022</a:t>
            </a:r>
          </a:p>
        </p:txBody>
      </p:sp>
      <p:sp>
        <p:nvSpPr>
          <p:cNvPr id="72" name="interpretability-row-line-1">
            <a:extLst xmlns:a="http://schemas.openxmlformats.org/drawingml/2006/main">
              <a:ext uri="{FF2B5EF4-FFF2-40B4-BE49-F238E27FC236}">
                <a16:creationId xmlns:a16="http://schemas.microsoft.com/office/drawing/2014/main" id="{646FC430-9970-40A0-8D1E-4202BF2C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715250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73" name="itarget-title">
            <a:extLst xmlns:a="http://schemas.openxmlformats.org/drawingml/2006/main">
              <a:ext uri="{FF2B5EF4-FFF2-40B4-BE49-F238E27FC236}">
                <a16:creationId xmlns:a16="http://schemas.microsoft.com/office/drawing/2014/main" id="{D17E032A-1964-4BE7-A8E5-0BABCA74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762875"/>
            <a:ext cx="5391150" cy="283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iTARGET</a:t>
            </a:r>
          </a:p>
        </p:txBody>
      </p:sp>
      <p:sp>
        <p:nvSpPr>
          <p:cNvPr id="74" name="itarget-detail">
            <a:extLst xmlns:a="http://schemas.openxmlformats.org/drawingml/2006/main">
              <a:ext uri="{FF2B5EF4-FFF2-40B4-BE49-F238E27FC236}">
                <a16:creationId xmlns:a16="http://schemas.microsoft.com/office/drawing/2014/main" id="{5B083B41-6AE7-43D3-AB2D-6A3D7AB7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8022908"/>
            <a:ext cx="5391150" cy="2185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Interpretable epigenetic age regression</a:t>
            </a:r>
          </a:p>
        </p:txBody>
      </p:sp>
      <p:sp>
        <p:nvSpPr>
          <p:cNvPr id="75" name="itarget-venue">
            <a:extLst xmlns:a="http://schemas.openxmlformats.org/drawingml/2006/main">
              <a:ext uri="{FF2B5EF4-FFF2-40B4-BE49-F238E27FC236}">
                <a16:creationId xmlns:a16="http://schemas.microsoft.com/office/drawing/2014/main" id="{C009103B-869D-4C31-AC6E-0F161CD8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8290084"/>
            <a:ext cx="5391150" cy="1862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BIBM 2024</a:t>
            </a:r>
          </a:p>
        </p:txBody>
      </p:sp>
      <p:sp>
        <p:nvSpPr>
          <p:cNvPr id="76" name="current-heading">
            <a:extLst xmlns:a="http://schemas.openxmlformats.org/drawingml/2006/main">
              <a:ext uri="{FF2B5EF4-FFF2-40B4-BE49-F238E27FC236}">
                <a16:creationId xmlns:a16="http://schemas.microsoft.com/office/drawing/2014/main" id="{8A93AAB5-FD2A-4A99-A6B2-CDC5081A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810625"/>
            <a:ext cx="1447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Directions and Accepted Work</a:t>
            </a:r>
          </a:p>
        </p:txBody>
      </p:sp>
      <p:sp>
        <p:nvSpPr>
          <p:cNvPr id="77" name="current-representation">
            <a:extLst xmlns:a="http://schemas.openxmlformats.org/drawingml/2006/main">
              <a:ext uri="{FF2B5EF4-FFF2-40B4-BE49-F238E27FC236}">
                <a16:creationId xmlns:a16="http://schemas.microsoft.com/office/drawing/2014/main" id="{1618C9E0-4837-455F-B421-C4B9B975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239250"/>
            <a:ext cx="4095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78" name="current-representation-title">
            <a:extLst xmlns:a="http://schemas.openxmlformats.org/drawingml/2006/main">
              <a:ext uri="{FF2B5EF4-FFF2-40B4-BE49-F238E27FC236}">
                <a16:creationId xmlns:a16="http://schemas.microsoft.com/office/drawing/2014/main" id="{6DEAB88A-FE45-471D-956B-718F1795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315450"/>
            <a:ext cx="3867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Symbolic Representation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&amp; Compression</a:t>
            </a:r>
          </a:p>
        </p:txBody>
      </p:sp>
      <p:sp>
        <p:nvSpPr>
          <p:cNvPr id="79" name="current-representation-body">
            <a:extLst xmlns:a="http://schemas.openxmlformats.org/drawingml/2006/main">
              <a:ext uri="{FF2B5EF4-FFF2-40B4-BE49-F238E27FC236}">
                <a16:creationId xmlns:a16="http://schemas.microsoft.com/office/drawing/2014/main" id="{C5F11720-0D30-48DC-9824-BBC77AFC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810750"/>
            <a:ext cx="3867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Temporal tokenization</a:t>
            </a:r>
          </a:p>
          <a:p xmlns:a="http://schemas.openxmlformats.org/drawingml/2006/main">
            <a:pPr algn="ctr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Foundation and world models</a:t>
            </a:r>
          </a:p>
        </p:txBody>
      </p:sp>
      <p:sp>
        <p:nvSpPr>
          <p:cNvPr id="80" name="current-representation-methods">
            <a:extLst xmlns:a="http://schemas.openxmlformats.org/drawingml/2006/main">
              <a:ext uri="{FF2B5EF4-FFF2-40B4-BE49-F238E27FC236}">
                <a16:creationId xmlns:a16="http://schemas.microsoft.com/office/drawing/2014/main" id="{B7BB58E4-36EA-4579-B161-396858E3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334625"/>
            <a:ext cx="3867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Literature: PAA, SAX, SAA-SAX</a:t>
            </a:r>
          </a:p>
        </p:txBody>
      </p:sp>
      <p:sp>
        <p:nvSpPr>
          <p:cNvPr id="81" name="current-retrieval">
            <a:extLst xmlns:a="http://schemas.openxmlformats.org/drawingml/2006/main">
              <a:ext uri="{FF2B5EF4-FFF2-40B4-BE49-F238E27FC236}">
                <a16:creationId xmlns:a16="http://schemas.microsoft.com/office/drawing/2014/main" id="{351FBFF9-31BD-4243-9E38-691CD4DB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9239250"/>
            <a:ext cx="4095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82" name="current-retrieval-title">
            <a:extLst xmlns:a="http://schemas.openxmlformats.org/drawingml/2006/main">
              <a:ext uri="{FF2B5EF4-FFF2-40B4-BE49-F238E27FC236}">
                <a16:creationId xmlns:a16="http://schemas.microsoft.com/office/drawing/2014/main" id="{2BAFC59B-5359-4C89-A811-6A14C83A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9829800"/>
            <a:ext cx="3867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Semantics-Enhanced Retrieval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Augmented Forecasting</a:t>
            </a:r>
          </a:p>
        </p:txBody>
      </p:sp>
      <p:sp>
        <p:nvSpPr>
          <p:cNvPr id="83" name="current-retrieval-status">
            <a:extLst xmlns:a="http://schemas.openxmlformats.org/drawingml/2006/main">
              <a:ext uri="{FF2B5EF4-FFF2-40B4-BE49-F238E27FC236}">
                <a16:creationId xmlns:a16="http://schemas.microsoft.com/office/drawing/2014/main" id="{13F665DF-982B-4171-AA31-5D14A833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0496550"/>
            <a:ext cx="38671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ICML 2026 workshop (accepted)</a:t>
            </a:r>
          </a:p>
        </p:txBody>
      </p:sp>
      <p:sp>
        <p:nvSpPr>
          <p:cNvPr id="84" name="current-classification">
            <a:extLst xmlns:a="http://schemas.openxmlformats.org/drawingml/2006/main">
              <a:ext uri="{FF2B5EF4-FFF2-40B4-BE49-F238E27FC236}">
                <a16:creationId xmlns:a16="http://schemas.microsoft.com/office/drawing/2014/main" id="{1872BAD9-452B-46CA-AA04-393921E0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9239250"/>
            <a:ext cx="5619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000000"/>
            </a:solidFill>
            <a:prstDash val="solid"/>
          </a:ln>
        </p:spPr>
      </p:sp>
      <p:sp>
        <p:nvSpPr>
          <p:cNvPr id="85" name="current-classification-title">
            <a:extLst xmlns:a="http://schemas.openxmlformats.org/drawingml/2006/main">
              <a:ext uri="{FF2B5EF4-FFF2-40B4-BE49-F238E27FC236}">
                <a16:creationId xmlns:a16="http://schemas.microsoft.com/office/drawing/2014/main" id="{66F8A8FE-7085-44E9-A9A4-0D90CAEE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9953625"/>
            <a:ext cx="53911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Time-Series Classification</a:t>
            </a:r>
          </a:p>
        </p:txBody>
      </p:sp>
      <p:sp>
        <p:nvSpPr>
          <p:cNvPr id="86" name="current-classification-body">
            <a:extLst xmlns:a="http://schemas.openxmlformats.org/drawingml/2006/main">
              <a:ext uri="{FF2B5EF4-FFF2-40B4-BE49-F238E27FC236}">
                <a16:creationId xmlns:a16="http://schemas.microsoft.com/office/drawing/2014/main" id="{B97A05E2-5C6F-4BBC-98DA-0B807F0A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0429875"/>
            <a:ext cx="5391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Current research</a:t>
            </a:r>
          </a:p>
        </p:txBody>
      </p:sp>
      <p:sp>
        <p:nvSpPr>
          <p:cNvPr id="88" name="tomc-contained-project">
            <a:extLst xmlns:a="http://schemas.openxmlformats.org/drawingml/2006/main">
              <a:ext uri="{FF2B5EF4-FFF2-40B4-BE49-F238E27FC236}">
                <a16:creationId xmlns:a16="http://schemas.microsoft.com/office/drawing/2014/main" id="{B8DEAD54-9E76-4507-8111-A1C403B8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01325"/>
            <a:ext cx="3676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00000"/>
            </a:solidFill>
            <a:prstDash val="solid"/>
          </a:ln>
        </p:spPr>
      </p:sp>
      <p:sp>
        <p:nvSpPr>
          <p:cNvPr id="89" name="tomc-memory-title">
            <a:extLst xmlns:a="http://schemas.openxmlformats.org/drawingml/2006/main">
              <a:ext uri="{FF2B5EF4-FFF2-40B4-BE49-F238E27FC236}">
                <a16:creationId xmlns:a16="http://schemas.microsoft.com/office/drawing/2014/main" id="{112094B4-4167-4F92-8C4D-34FAEDCD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48950"/>
            <a:ext cx="3867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TOMC Memory</a:t>
            </a:r>
          </a:p>
        </p:txBody>
      </p:sp>
      <p:sp>
        <p:nvSpPr>
          <p:cNvPr id="90" name="tomc-memory-description">
            <a:extLst xmlns:a="http://schemas.openxmlformats.org/drawingml/2006/main">
              <a:ext uri="{FF2B5EF4-FFF2-40B4-BE49-F238E27FC236}">
                <a16:creationId xmlns:a16="http://schemas.microsoft.com/office/drawing/2014/main" id="{7189F895-025E-48EF-A470-921E80B0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906125"/>
            <a:ext cx="3867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Context compression &amp; task memory</a:t>
            </a:r>
          </a:p>
        </p:txBody>
      </p:sp>
      <p:sp>
        <p:nvSpPr>
          <p:cNvPr id="91" name="tomc-memory-role">
            <a:extLst xmlns:a="http://schemas.openxmlformats.org/drawingml/2006/main">
              <a:ext uri="{FF2B5EF4-FFF2-40B4-BE49-F238E27FC236}">
                <a16:creationId xmlns:a16="http://schemas.microsoft.com/office/drawing/2014/main" id="{C77D50F6-FD79-470A-B968-8788B3B0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144250"/>
            <a:ext cx="3867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Research software</a:t>
            </a:r>
          </a:p>
        </p:txBody>
      </p:sp>
    </p:spTree>
    <p:extLst>
      <p:ext uri="{BB962C8B-B14F-4D97-AF65-F5344CB8AC3E}">
        <p14:creationId xmlns:p14="http://schemas.microsoft.com/office/powerpoint/2010/main" val="11656112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2026-10-15T12:20:10.9810000Z</dcterms:created>
  <dcterms:modified xsi:type="dcterms:W3CDTF">2026-10-15T12:20:10.9810000Z</dcterms:modified>
</coreProperties>
</file>