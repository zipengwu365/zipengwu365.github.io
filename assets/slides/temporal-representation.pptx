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157f6197ac4fd6" /><Relationship Type="http://schemas.openxmlformats.org/officeDocument/2006/relationships/extended-properties" Target="/docProps/app.xml" Id="R20e2051db6104d18" /><Relationship Type="http://schemas.openxmlformats.org/officeDocument/2006/relationships/officeDocument" Target="/ppt/presentation.xml" Id="Rb7127881506c44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be7c9ba07f4148"/>
  </p:sldMasterIdLst>
  <p:notesMasterIdLst>
    <p:notesMasterId xmlns:r="http://schemas.openxmlformats.org/officeDocument/2006/relationships" r:id="R8e5705abf1044cd6"/>
  </p:notesMasterIdLst>
  <p:sldIdLst>
    <p:sldId xmlns:r="http://schemas.openxmlformats.org/officeDocument/2006/relationships" id="256" r:id="R4ea6003a747a4f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f763be1a744638" /><Relationship Type="http://schemas.openxmlformats.org/officeDocument/2006/relationships/slideMaster" Target="/ppt/slideMasters/slideMaster1.xml" Id="R57be7c9ba07f4148" /><Relationship Type="http://schemas.openxmlformats.org/officeDocument/2006/relationships/notesMaster" Target="/ppt/notesMasters/notesMaster1.xml" Id="R8e5705abf1044cd6" /><Relationship Type="http://schemas.openxmlformats.org/officeDocument/2006/relationships/presProps" Target="/ppt/presProps.xml" Id="Rd2297d99c85f482e" /><Relationship Type="http://schemas.openxmlformats.org/officeDocument/2006/relationships/tableStyles" Target="/ppt/tableStyles.xml" Id="R55814038c7994a61" /><Relationship Type="http://schemas.openxmlformats.org/officeDocument/2006/relationships/slide" Target="/ppt/slides/slide1.xml" Id="R4ea6003a747a4f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e396ee9c9248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58d0ea79d24395" /><Relationship Type="http://schemas.openxmlformats.org/officeDocument/2006/relationships/notesMaster" Target="/ppt/notesMasters/notesMaster1.xml" Id="R8b5c5eddf6584f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directions supplied by Zipeng Wu. Temporal Representation is the umbrella term. Connections show research relationships, not a fixed processing pipeline. Frequency conversion retains the broad wording supplied by the author. Classification is current work. PAA, SAX, and SAA-SAX are representative methods from the literature, not works attributed to Zipeng Wu. PAA represents segments by their means. SAX discretizes PAA values into symbols. SAA-SAX uses slope-based aggregation before discretization. References: Lin et al., A Symbolic Representation of Time Series, with Implications for Streaming Algorithms (2003), https://www.cs.ucr.edu/~stelo/papers/DMKD03.pdf ; Pappa et al., Slopewise Aggregate Approximation SAX: keeping the trend of a time series (2021), https://doi.org/10.1109/SSCI50451.2021.9660130 . Project context: https://zipengwu365.github.io/research.html ; https://systems-mechanobiology.github.io/DeTime/ ; https://github.com/ZipengWu365/TSDecompose-Benchmark ; https://zipengwu365.github.io/EchoTime/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a9d5edb63343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8dc3d95c9e4ff0" /><Relationship Type="http://schemas.openxmlformats.org/officeDocument/2006/relationships/slideLayout" Target="/ppt/slideLayouts/slideLayout1.xml" Id="Rbe3b0827449145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b0827449145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0263654454340" /><Relationship Type="http://schemas.openxmlformats.org/officeDocument/2006/relationships/notesSlide" Target="/ppt/notesSlides/notesSlide1.xml" Id="Rc294166ab1d94c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left-branch">
            <a:extLst xmlns:a="http://schemas.openxmlformats.org/drawingml/2006/main">
              <a:ext uri="{FF2B5EF4-FFF2-40B4-BE49-F238E27FC236}">
                <a16:creationId xmlns:a16="http://schemas.microsoft.com/office/drawing/2014/main" id="{C713CFBE-9CC0-4CCE-B3F2-26E94CAC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313" y="1404938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" name="right-branch">
            <a:extLst xmlns:a="http://schemas.openxmlformats.org/drawingml/2006/main">
              <a:ext uri="{FF2B5EF4-FFF2-40B4-BE49-F238E27FC236}">
                <a16:creationId xmlns:a16="http://schemas.microsoft.com/office/drawing/2014/main" id="{09F00097-5052-48AE-A748-47D9E7F1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1404938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3" name="left-core-connection">
            <a:extLst xmlns:a="http://schemas.openxmlformats.org/drawingml/2006/main">
              <a:ext uri="{FF2B5EF4-FFF2-40B4-BE49-F238E27FC236}">
                <a16:creationId xmlns:a16="http://schemas.microsoft.com/office/drawing/2014/main" id="{F2A310FA-0324-4919-891D-FE3FD0F0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313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4" name="right-core-connection">
            <a:extLst xmlns:a="http://schemas.openxmlformats.org/drawingml/2006/main">
              <a:ext uri="{FF2B5EF4-FFF2-40B4-BE49-F238E27FC236}">
                <a16:creationId xmlns:a16="http://schemas.microsoft.com/office/drawing/2014/main" id="{E9BD7CEE-A2BD-4417-9D02-2B6B27B7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5" name="decomposition-connection">
            <a:extLst xmlns:a="http://schemas.openxmlformats.org/drawingml/2006/main">
              <a:ext uri="{FF2B5EF4-FFF2-40B4-BE49-F238E27FC236}">
                <a16:creationId xmlns:a16="http://schemas.microsoft.com/office/drawing/2014/main" id="{1743FE8B-16FE-4D90-92C3-D7253781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76688"/>
            <a:ext cx="0" cy="928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6" name="left-connection-0">
            <a:extLst xmlns:a="http://schemas.openxmlformats.org/drawingml/2006/main">
              <a:ext uri="{FF2B5EF4-FFF2-40B4-BE49-F238E27FC236}">
                <a16:creationId xmlns:a16="http://schemas.microsoft.com/office/drawing/2014/main" id="{BB427F0E-A327-4310-AE58-3FB1E6D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0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7" name="right-connection-0">
            <a:extLst xmlns:a="http://schemas.openxmlformats.org/drawingml/2006/main">
              <a:ext uri="{FF2B5EF4-FFF2-40B4-BE49-F238E27FC236}">
                <a16:creationId xmlns:a16="http://schemas.microsoft.com/office/drawing/2014/main" id="{808716AC-4E1C-4542-AFD6-1107035D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140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8" name="left-connection-1">
            <a:extLst xmlns:a="http://schemas.openxmlformats.org/drawingml/2006/main">
              <a:ext uri="{FF2B5EF4-FFF2-40B4-BE49-F238E27FC236}">
                <a16:creationId xmlns:a16="http://schemas.microsoft.com/office/drawing/2014/main" id="{187C922A-349B-461A-982E-AC1D2122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9" name="right-connection-1">
            <a:extLst xmlns:a="http://schemas.openxmlformats.org/drawingml/2006/main">
              <a:ext uri="{FF2B5EF4-FFF2-40B4-BE49-F238E27FC236}">
                <a16:creationId xmlns:a16="http://schemas.microsoft.com/office/drawing/2014/main" id="{B3A3DE80-BF2F-431E-99F5-DF0C5804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0" name="left-connection-2">
            <a:extLst xmlns:a="http://schemas.openxmlformats.org/drawingml/2006/main">
              <a:ext uri="{FF2B5EF4-FFF2-40B4-BE49-F238E27FC236}">
                <a16:creationId xmlns:a16="http://schemas.microsoft.com/office/drawing/2014/main" id="{AF14ADF6-788D-4E1F-AB5A-205B3705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1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1" name="right-connection-2">
            <a:extLst xmlns:a="http://schemas.openxmlformats.org/drawingml/2006/main">
              <a:ext uri="{FF2B5EF4-FFF2-40B4-BE49-F238E27FC236}">
                <a16:creationId xmlns:a16="http://schemas.microsoft.com/office/drawing/2014/main" id="{DFAA9936-ED78-473F-8793-D2B850E1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521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2" name="temporal-representation">
            <a:extLst xmlns:a="http://schemas.openxmlformats.org/drawingml/2006/main">
              <a:ext uri="{FF2B5EF4-FFF2-40B4-BE49-F238E27FC236}">
                <a16:creationId xmlns:a16="http://schemas.microsoft.com/office/drawing/2014/main" id="{2E16DBB3-282E-4276-9AD8-4D9605B1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43188"/>
            <a:ext cx="3333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core-label">
            <a:extLst xmlns:a="http://schemas.openxmlformats.org/drawingml/2006/main">
              <a:ext uri="{FF2B5EF4-FFF2-40B4-BE49-F238E27FC236}">
                <a16:creationId xmlns:a16="http://schemas.microsoft.com/office/drawing/2014/main" id="{F13903FD-4371-4A78-9DC6-2CFFA815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43213"/>
            <a:ext cx="3048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Temporal</a:t>
            </a:r>
          </a:p>
          <a:p xmlns:a="http://schemas.openxmlformats.org/drawingml/2006/main">
            <a:pPr algn="ctr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Representation</a:t>
            </a:r>
          </a:p>
        </p:txBody>
      </p:sp>
      <p:sp>
        <p:nvSpPr>
          <p:cNvPr id="14" name="symbolic">
            <a:extLst xmlns:a="http://schemas.openxmlformats.org/drawingml/2006/main">
              <a:ext uri="{FF2B5EF4-FFF2-40B4-BE49-F238E27FC236}">
                <a16:creationId xmlns:a16="http://schemas.microsoft.com/office/drawing/2014/main" id="{7E6D3CC2-014F-456B-B27F-76E4A04F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6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5" name="symbolic-label">
            <a:extLst xmlns:a="http://schemas.openxmlformats.org/drawingml/2006/main">
              <a:ext uri="{FF2B5EF4-FFF2-40B4-BE49-F238E27FC236}">
                <a16:creationId xmlns:a16="http://schemas.microsoft.com/office/drawing/2014/main" id="{4BC3F3F4-93EF-461F-9834-6CDFB09E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4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Symbolic representation</a:t>
            </a:r>
          </a:p>
        </p:txBody>
      </p:sp>
      <p:sp>
        <p:nvSpPr>
          <p:cNvPr id="16" name="symbolic-detail-0">
            <a:extLst xmlns:a="http://schemas.openxmlformats.org/drawingml/2006/main">
              <a:ext uri="{FF2B5EF4-FFF2-40B4-BE49-F238E27FC236}">
                <a16:creationId xmlns:a16="http://schemas.microsoft.com/office/drawing/2014/main" id="{971EE153-1D44-495F-91F4-BA2EC8EE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e.g., SAX, SAA-SAX</a:t>
            </a:r>
          </a:p>
        </p:txBody>
      </p:sp>
      <p:sp>
        <p:nvSpPr>
          <p:cNvPr id="17" name="symbolic-detail-1">
            <a:extLst xmlns:a="http://schemas.openxmlformats.org/drawingml/2006/main">
              <a:ext uri="{FF2B5EF4-FFF2-40B4-BE49-F238E27FC236}">
                <a16:creationId xmlns:a16="http://schemas.microsoft.com/office/drawing/2014/main" id="{0B5E98EB-2588-458F-89C4-1499DB3C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47825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Temporal tokenization</a:t>
            </a:r>
          </a:p>
        </p:txBody>
      </p:sp>
      <p:sp>
        <p:nvSpPr>
          <p:cNvPr id="18" name="compression">
            <a:extLst xmlns:a="http://schemas.openxmlformats.org/drawingml/2006/main">
              <a:ext uri="{FF2B5EF4-FFF2-40B4-BE49-F238E27FC236}">
                <a16:creationId xmlns:a16="http://schemas.microsoft.com/office/drawing/2014/main" id="{6BCA0279-A424-40DA-95F8-9820E782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9" name="compression-label">
            <a:extLst xmlns:a="http://schemas.openxmlformats.org/drawingml/2006/main">
              <a:ext uri="{FF2B5EF4-FFF2-40B4-BE49-F238E27FC236}">
                <a16:creationId xmlns:a16="http://schemas.microsoft.com/office/drawing/2014/main" id="{816C9DA9-0B88-4537-8A29-0FF7A518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47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Compression</a:t>
            </a:r>
          </a:p>
        </p:txBody>
      </p:sp>
      <p:sp>
        <p:nvSpPr>
          <p:cNvPr id="20" name="compression-detail-0">
            <a:extLst xmlns:a="http://schemas.openxmlformats.org/drawingml/2006/main">
              <a:ext uri="{FF2B5EF4-FFF2-40B4-BE49-F238E27FC236}">
                <a16:creationId xmlns:a16="http://schemas.microsoft.com/office/drawing/2014/main" id="{A84A8E18-9F32-48EB-A1B8-553F5E7D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7660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and approximation</a:t>
            </a:r>
          </a:p>
        </p:txBody>
      </p:sp>
      <p:sp>
        <p:nvSpPr>
          <p:cNvPr id="21" name="compression-detail-1">
            <a:extLst xmlns:a="http://schemas.openxmlformats.org/drawingml/2006/main">
              <a:ext uri="{FF2B5EF4-FFF2-40B4-BE49-F238E27FC236}">
                <a16:creationId xmlns:a16="http://schemas.microsoft.com/office/drawing/2014/main" id="{AB877DB0-AE5E-44B0-AB6F-8B152436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52825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e.g., PAA, SAX, SAA-SAX</a:t>
            </a:r>
          </a:p>
        </p:txBody>
      </p:sp>
      <p:sp>
        <p:nvSpPr>
          <p:cNvPr id="22" name="frequency">
            <a:extLst xmlns:a="http://schemas.openxmlformats.org/drawingml/2006/main">
              <a:ext uri="{FF2B5EF4-FFF2-40B4-BE49-F238E27FC236}">
                <a16:creationId xmlns:a16="http://schemas.microsoft.com/office/drawing/2014/main" id="{FB5F2FCA-8CFF-495E-B92D-F018F03E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7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3" name="frequency-label">
            <a:extLst xmlns:a="http://schemas.openxmlformats.org/drawingml/2006/main">
              <a:ext uri="{FF2B5EF4-FFF2-40B4-BE49-F238E27FC236}">
                <a16:creationId xmlns:a16="http://schemas.microsoft.com/office/drawing/2014/main" id="{38A63B3E-E111-4AA0-B365-C74B452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3488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Frequency conversion</a:t>
            </a:r>
          </a:p>
        </p:txBody>
      </p:sp>
      <p:sp>
        <p:nvSpPr>
          <p:cNvPr id="24" name="similarity">
            <a:extLst xmlns:a="http://schemas.openxmlformats.org/drawingml/2006/main">
              <a:ext uri="{FF2B5EF4-FFF2-40B4-BE49-F238E27FC236}">
                <a16:creationId xmlns:a16="http://schemas.microsoft.com/office/drawing/2014/main" id="{6BDBB74B-BA66-4E57-8356-D59CA7E7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76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5" name="similarity-label">
            <a:extLst xmlns:a="http://schemas.openxmlformats.org/drawingml/2006/main">
              <a:ext uri="{FF2B5EF4-FFF2-40B4-BE49-F238E27FC236}">
                <a16:creationId xmlns:a16="http://schemas.microsoft.com/office/drawing/2014/main" id="{62AFE795-93E0-4072-BB82-216B3D35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94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Similarity measurement</a:t>
            </a:r>
          </a:p>
        </p:txBody>
      </p:sp>
      <p:sp>
        <p:nvSpPr>
          <p:cNvPr id="26" name="similarity-detail-0">
            <a:extLst xmlns:a="http://schemas.openxmlformats.org/drawingml/2006/main">
              <a:ext uri="{FF2B5EF4-FFF2-40B4-BE49-F238E27FC236}">
                <a16:creationId xmlns:a16="http://schemas.microsoft.com/office/drawing/2014/main" id="{6BD6B866-DD7C-4204-A2C1-60815907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2875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EchoTime</a:t>
            </a:r>
          </a:p>
        </p:txBody>
      </p:sp>
      <p:sp>
        <p:nvSpPr>
          <p:cNvPr id="27" name="forecasting">
            <a:extLst xmlns:a="http://schemas.openxmlformats.org/drawingml/2006/main">
              <a:ext uri="{FF2B5EF4-FFF2-40B4-BE49-F238E27FC236}">
                <a16:creationId xmlns:a16="http://schemas.microsoft.com/office/drawing/2014/main" id="{8E3FC92D-19CF-45EB-98D0-5F5E6604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8" name="forecasting-label">
            <a:extLst xmlns:a="http://schemas.openxmlformats.org/drawingml/2006/main">
              <a:ext uri="{FF2B5EF4-FFF2-40B4-BE49-F238E27FC236}">
                <a16:creationId xmlns:a16="http://schemas.microsoft.com/office/drawing/2014/main" id="{B5EC96EC-E6FB-443B-B4E1-E989FD59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47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Forecasting</a:t>
            </a:r>
          </a:p>
        </p:txBody>
      </p:sp>
      <p:sp>
        <p:nvSpPr>
          <p:cNvPr id="29" name="forecasting-detail-0">
            <a:extLst xmlns:a="http://schemas.openxmlformats.org/drawingml/2006/main">
              <a:ext uri="{FF2B5EF4-FFF2-40B4-BE49-F238E27FC236}">
                <a16:creationId xmlns:a16="http://schemas.microsoft.com/office/drawing/2014/main" id="{878AFE96-9F6A-4163-969A-DD7C7172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Retrieval-augmented forecasting</a:t>
            </a:r>
          </a:p>
        </p:txBody>
      </p:sp>
      <p:sp>
        <p:nvSpPr>
          <p:cNvPr id="30" name="forecasting-detail-1">
            <a:extLst xmlns:a="http://schemas.openxmlformats.org/drawingml/2006/main">
              <a:ext uri="{FF2B5EF4-FFF2-40B4-BE49-F238E27FC236}">
                <a16:creationId xmlns:a16="http://schemas.microsoft.com/office/drawing/2014/main" id="{7557BB4A-1DD0-4388-92EB-B21DE78F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52825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Multi-output prediction</a:t>
            </a:r>
          </a:p>
        </p:txBody>
      </p:sp>
      <p:sp>
        <p:nvSpPr>
          <p:cNvPr id="31" name="classification">
            <a:extLst xmlns:a="http://schemas.openxmlformats.org/drawingml/2006/main">
              <a:ext uri="{FF2B5EF4-FFF2-40B4-BE49-F238E27FC236}">
                <a16:creationId xmlns:a16="http://schemas.microsoft.com/office/drawing/2014/main" id="{DD9747FB-F239-45EC-8068-E14B4E7F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7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32" name="classification-label">
            <a:extLst xmlns:a="http://schemas.openxmlformats.org/drawingml/2006/main">
              <a:ext uri="{FF2B5EF4-FFF2-40B4-BE49-F238E27FC236}">
                <a16:creationId xmlns:a16="http://schemas.microsoft.com/office/drawing/2014/main" id="{5D6715FD-3C8A-4C54-9032-6C379B92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Classification</a:t>
            </a:r>
          </a:p>
        </p:txBody>
      </p:sp>
      <p:sp>
        <p:nvSpPr>
          <p:cNvPr id="33" name="classification-detail-0">
            <a:extLst xmlns:a="http://schemas.openxmlformats.org/drawingml/2006/main">
              <a:ext uri="{FF2B5EF4-FFF2-40B4-BE49-F238E27FC236}">
                <a16:creationId xmlns:a16="http://schemas.microsoft.com/office/drawing/2014/main" id="{71FC8874-464F-4737-88FA-586E1DD5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3875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work</a:t>
            </a:r>
          </a:p>
        </p:txBody>
      </p:sp>
      <p:sp>
        <p:nvSpPr>
          <p:cNvPr id="34" name="decomposition">
            <a:extLst xmlns:a="http://schemas.openxmlformats.org/drawingml/2006/main">
              <a:ext uri="{FF2B5EF4-FFF2-40B4-BE49-F238E27FC236}">
                <a16:creationId xmlns:a16="http://schemas.microsoft.com/office/drawing/2014/main" id="{0DE5A755-2089-4416-BCF1-2B85F525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905375"/>
            <a:ext cx="3333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35" name="decomposition-label">
            <a:extLst xmlns:a="http://schemas.openxmlformats.org/drawingml/2006/main">
              <a:ext uri="{FF2B5EF4-FFF2-40B4-BE49-F238E27FC236}">
                <a16:creationId xmlns:a16="http://schemas.microsoft.com/office/drawing/2014/main" id="{1F0DA29E-3723-4D62-B7B7-42087374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0863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Decomposition</a:t>
            </a:r>
          </a:p>
        </p:txBody>
      </p:sp>
      <p:sp>
        <p:nvSpPr>
          <p:cNvPr id="36" name="decomposition-detail-0">
            <a:extLst xmlns:a="http://schemas.openxmlformats.org/drawingml/2006/main">
              <a:ext uri="{FF2B5EF4-FFF2-40B4-BE49-F238E27FC236}">
                <a16:creationId xmlns:a16="http://schemas.microsoft.com/office/drawing/2014/main" id="{91ACD5F2-714F-4D7E-9F95-B9E0645A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5149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DeTime</a:t>
            </a:r>
          </a:p>
        </p:txBody>
      </p:sp>
      <p:sp>
        <p:nvSpPr>
          <p:cNvPr id="37" name="decomposition-detail-1">
            <a:extLst xmlns:a="http://schemas.openxmlformats.org/drawingml/2006/main">
              <a:ext uri="{FF2B5EF4-FFF2-40B4-BE49-F238E27FC236}">
                <a16:creationId xmlns:a16="http://schemas.microsoft.com/office/drawing/2014/main" id="{C9DAE67D-E040-402D-BC93-878A2887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7912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TSDecompose-Benchmark</a:t>
            </a:r>
          </a:p>
        </p:txBody>
      </p:sp>
    </p:spTree>
    <p:extLst>
      <p:ext uri="{BB962C8B-B14F-4D97-AF65-F5344CB8AC3E}">
        <p14:creationId xmlns:p14="http://schemas.microsoft.com/office/powerpoint/2010/main" val="7774738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2026-10-01T17:41:40.9660000Z</dcterms:created>
  <dcterms:modified xsi:type="dcterms:W3CDTF">2026-10-01T17:41:40.9660000Z</dcterms:modified>
</coreProperties>
</file>