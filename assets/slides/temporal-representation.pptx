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0cfc69aad8496f" /><Relationship Type="http://schemas.openxmlformats.org/officeDocument/2006/relationships/extended-properties" Target="/docProps/app.xml" Id="R6a6f78f651364bd3" /><Relationship Type="http://schemas.openxmlformats.org/officeDocument/2006/relationships/officeDocument" Target="/ppt/presentation.xml" Id="R5f80d0d7a15c42c0" /></Relationships>
</file>

<file path=ppt/presentation.xml><?xml version="1.0" encoding="utf-8"?>
<p:presentation xmlns:p="http://schemas.openxmlformats.org/presentationml/2006/main">
  <p:sldMasterIdLst>
    <p:sldMasterId xmlns:r="http://schemas.openxmlformats.org/officeDocument/2006/relationships" id="2147483648" r:id="Re35eb1b8cee742c8"/>
  </p:sldMasterIdLst>
  <p:notesMasterIdLst>
    <p:notesMasterId xmlns:r="http://schemas.openxmlformats.org/officeDocument/2006/relationships" r:id="R65f0b6293e5949a7"/>
  </p:notesMasterIdLst>
  <p:sldIdLst>
    <p:sldId xmlns:r="http://schemas.openxmlformats.org/officeDocument/2006/relationships" id="256" r:id="R24df7eb7f8974c1d"/>
    <p:sldId xmlns:r="http://schemas.openxmlformats.org/officeDocument/2006/relationships" id="257" r:id="R649a1d3c9c514d8b"/>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b2f36814934c38" /><Relationship Type="http://schemas.openxmlformats.org/officeDocument/2006/relationships/slideMaster" Target="/ppt/slideMasters/slideMaster1.xml" Id="Re35eb1b8cee742c8" /><Relationship Type="http://schemas.openxmlformats.org/officeDocument/2006/relationships/notesMaster" Target="/ppt/notesMasters/notesMaster1.xml" Id="R65f0b6293e5949a7" /><Relationship Type="http://schemas.openxmlformats.org/officeDocument/2006/relationships/presProps" Target="/ppt/presProps.xml" Id="Ree5ec1980a3f4ac9" /><Relationship Type="http://schemas.openxmlformats.org/officeDocument/2006/relationships/tableStyles" Target="/ppt/tableStyles.xml" Id="R01bf6a6ae51d4622" /><Relationship Type="http://schemas.openxmlformats.org/officeDocument/2006/relationships/slide" Target="/ppt/slides/slide1.xml" Id="R24df7eb7f8974c1d" /><Relationship Type="http://schemas.openxmlformats.org/officeDocument/2006/relationships/slide" Target="/ppt/slides/slide2.xml" Id="R649a1d3c9c514d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2eb852aa644b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6905a77d40425d" /><Relationship Type="http://schemas.openxmlformats.org/officeDocument/2006/relationships/notesMaster" Target="/ppt/notesMasters/notesMaster1.xml" Id="Rc76b753a07ed44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60b675b20434de4" /><Relationship Type="http://schemas.openxmlformats.org/officeDocument/2006/relationships/notesMaster" Target="/ppt/notesMasters/notesMaster1.xml" Id="Rc063e0323ce141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supplied by Zipeng Wu: MRes_Thesis_Time_Series_Representation 0808Zipeng Wu2pm.pdf, Definitions 3.1–3.3 (printed pp. 60–62), composition (pp. 62–66), evaluation properties (p. 70), task objectives (p. 72), compression and reconstruction (pp. 77–78), RP and RQA (pp. 47–48). PhD_Thesis_Time_Series_Representation.pdf, Chapters 2–7, representation forms (pp. 2–3), SAA (pp. 11–12), SAA-SAX (p. 20), statistical features (pp. 91–92), Matrix Profile (p. 103), Shapelet Transform (pp. 106–107). Conceptual synthesis of the supplied manuscripts. The five properties are evaluation dimensions, not universal guarantees. Families can overlap and compose. Commutativity concerns operator order. Generic method names are literature examples, not methods attributed to Zipeng Wu. Learned encoders fall within the operator definition; foundation/world-model applications extend the surveyed scope. Project descriptions: https://systems-mechanobiology.github.io/DeTime/ ; https://github.com/ZipengWu365/TSDecompose-Benchmark ; https://zipengwu365.github.io/EchoTime/ ; https://zipengwu365.github.io/research.html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supplied by Zipeng Wu: MRes_Thesis_Time_Series_Representation 0808Zipeng Wu2pm.pdf, Definitions 3.1–3.3 (printed pp. 60–62), composition (pp. 62–66), evaluation properties (p. 70), task objectives (p. 72), compression and reconstruction (pp. 77–78), RP and RQA (pp. 47–48). PhD_Thesis_Time_Series_Representation.pdf, Chapters 2–7, representation forms (pp. 2–3), SAA (pp. 11–12), SAA-SAX (p. 20), statistical features (pp. 91–92), Matrix Profile (p. 103), Shapelet Transform (pp. 106–107). Conceptual synthesis of the supplied manuscripts. The five properties are evaluation dimensions, not universal guarantees. Families can overlap and compose. Commutativity concerns operator order. Generic method names are literature examples, not methods attributed to Zipeng Wu. Learned encoders fall within the operator definition; foundation/world-model applications extend the surveyed scope. Project descriptions: https://systems-mechanobiology.github.io/DeTime/ ; https://github.com/ZipengWu365/TSDecompose-Benchmark ; https://zipengwu365.github.io/EchoTime/ ; https://zipengwu365.github.io/research.html . SAA-SAX is supported by the PhD manuscript and Pappa et al., Slopewise Aggregate Approximation SAX: keeping the trend of a time series, 2021, https://doi.org/10.1109/SSCI50451.2021.9660130 . Connections read left to right. PAA and SAA are intermediate numerical representations. The middle boxes name the additional operators. The right boxes show the resulting symbolic representation.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f765ed17cf45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a3c00006cf4dd6" /><Relationship Type="http://schemas.openxmlformats.org/officeDocument/2006/relationships/slideLayout" Target="/ppt/slideLayouts/slideLayout1.xml" Id="R044885d1d2ce44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4885d1d2ce44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caef4bfe024fc4" /><Relationship Type="http://schemas.openxmlformats.org/officeDocument/2006/relationships/notesSlide" Target="/ppt/notesSlides/notesSlide1.xml" Id="R8d8423b1a66c45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b878defdb8c4c02" /><Relationship Type="http://schemas.openxmlformats.org/officeDocument/2006/relationships/notesSlide" Target="/ppt/notesSlides/notesSlide2.xml" Id="R49ec33c46320439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temporal-representation">
            <a:extLst xmlns:a="http://schemas.openxmlformats.org/drawingml/2006/main">
              <a:ext uri="{FF2B5EF4-FFF2-40B4-BE49-F238E27FC236}">
                <a16:creationId xmlns:a16="http://schemas.microsoft.com/office/drawing/2014/main" id="{4CFFD7FE-9CA9-473A-A8B0-0CA9D3DD839C}"/>
              </a:ext>
            </a:extLst>
          </p:cNvPr>
          <p:cNvSpPr>
            <a:spLocks xmlns:a="http://schemas.openxmlformats.org/drawingml/2006/main" noGrp="1"/>
          </p:cNvSpPr>
          <p:nvPr/>
        </p:nvSpPr>
        <p:spPr>
          <a:xfrm xmlns:a="http://schemas.openxmlformats.org/drawingml/2006/main">
            <a:off x="4572000" y="171450"/>
            <a:ext cx="6096000" cy="685800"/>
          </a:xfrm>
          <a:prstGeom xmlns:a="http://schemas.openxmlformats.org/drawingml/2006/main" prst="rect">
            <a:avLst/>
          </a:prstGeom>
          <a:solidFill xmlns:a="http://schemas.openxmlformats.org/drawingml/2006/main">
            <a:srgbClr val="FFFFFF"/>
          </a:solidFill>
          <a:ln xmlns:a="http://schemas.openxmlformats.org/drawingml/2006/main" w="22860">
            <a:solidFill>
              <a:srgbClr val="000000"/>
            </a:solidFill>
            <a:prstDash val="solid"/>
          </a:ln>
        </p:spPr>
      </p:sp>
      <p:sp>
        <p:nvSpPr>
          <p:cNvPr id="2" name="core-title">
            <a:extLst xmlns:a="http://schemas.openxmlformats.org/drawingml/2006/main">
              <a:ext uri="{FF2B5EF4-FFF2-40B4-BE49-F238E27FC236}">
                <a16:creationId xmlns:a16="http://schemas.microsoft.com/office/drawing/2014/main" id="{E8F4F9DA-6E48-4240-87B7-4E03358CD7EB}"/>
              </a:ext>
            </a:extLst>
          </p:cNvPr>
          <p:cNvSpPr>
            <a:spLocks xmlns:a="http://schemas.openxmlformats.org/drawingml/2006/main" noGrp="1"/>
          </p:cNvSpPr>
          <p:nvPr/>
        </p:nvSpPr>
        <p:spPr>
          <a:xfrm xmlns:a="http://schemas.openxmlformats.org/drawingml/2006/main">
            <a:off x="4714875" y="257175"/>
            <a:ext cx="5810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3000" b="1">
                <a:solidFill>
                  <a:srgbClr val="000000"/>
                </a:solidFill>
                <a:latin typeface="Arial"/>
                <a:ea typeface="Arial"/>
                <a:cs typeface="Arial"/>
              </a:defRPr>
            </a:pPr>
            <a:r>
              <a:rPr sz="3000" b="1">
                <a:solidFill>
                  <a:srgbClr val="000000"/>
                </a:solidFill>
                <a:latin typeface="Arial"/>
                <a:ea typeface="Arial"/>
                <a:cs typeface="Arial"/>
              </a:rPr>
              <a:t>Temporal Representation</a:t>
            </a:r>
          </a:p>
        </p:txBody>
      </p:sp>
      <p:sp>
        <p:nvSpPr>
          <p:cNvPr id="3" name="core-theory">
            <a:extLst xmlns:a="http://schemas.openxmlformats.org/drawingml/2006/main">
              <a:ext uri="{FF2B5EF4-FFF2-40B4-BE49-F238E27FC236}">
                <a16:creationId xmlns:a16="http://schemas.microsoft.com/office/drawing/2014/main" id="{E5315B14-DED5-4081-A441-354FC1645E0C}"/>
              </a:ext>
            </a:extLst>
          </p:cNvPr>
          <p:cNvSpPr>
            <a:spLocks xmlns:a="http://schemas.openxmlformats.org/drawingml/2006/main" noGrp="1"/>
          </p:cNvSpPr>
          <p:nvPr/>
        </p:nvSpPr>
        <p:spPr>
          <a:xfrm xmlns:a="http://schemas.openxmlformats.org/drawingml/2006/main">
            <a:off x="7620000" y="857250"/>
            <a:ext cx="0" cy="20955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4" name="theory">
            <a:extLst xmlns:a="http://schemas.openxmlformats.org/drawingml/2006/main">
              <a:ext uri="{FF2B5EF4-FFF2-40B4-BE49-F238E27FC236}">
                <a16:creationId xmlns:a16="http://schemas.microsoft.com/office/drawing/2014/main" id="{CC1062A9-3059-4CF6-A2D4-ECA29AAFA3D7}"/>
              </a:ext>
            </a:extLst>
          </p:cNvPr>
          <p:cNvSpPr>
            <a:spLocks xmlns:a="http://schemas.openxmlformats.org/drawingml/2006/main" noGrp="1"/>
          </p:cNvSpPr>
          <p:nvPr/>
        </p:nvSpPr>
        <p:spPr>
          <a:xfrm xmlns:a="http://schemas.openxmlformats.org/drawingml/2006/main">
            <a:off x="381000" y="1066800"/>
            <a:ext cx="14478000" cy="12192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5" name="theory-divider">
            <a:extLst xmlns:a="http://schemas.openxmlformats.org/drawingml/2006/main">
              <a:ext uri="{FF2B5EF4-FFF2-40B4-BE49-F238E27FC236}">
                <a16:creationId xmlns:a16="http://schemas.microsoft.com/office/drawing/2014/main" id="{ECDEF101-84BC-49C9-8D69-5EC0C9FC1DB0}"/>
              </a:ext>
            </a:extLst>
          </p:cNvPr>
          <p:cNvSpPr>
            <a:spLocks xmlns:a="http://schemas.openxmlformats.org/drawingml/2006/main" noGrp="1"/>
          </p:cNvSpPr>
          <p:nvPr/>
        </p:nvSpPr>
        <p:spPr>
          <a:xfrm xmlns:a="http://schemas.openxmlformats.org/drawingml/2006/main">
            <a:off x="5715000" y="1066800"/>
            <a:ext cx="0" cy="121920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6" name="theory-title">
            <a:extLst xmlns:a="http://schemas.openxmlformats.org/drawingml/2006/main">
              <a:ext uri="{FF2B5EF4-FFF2-40B4-BE49-F238E27FC236}">
                <a16:creationId xmlns:a16="http://schemas.microsoft.com/office/drawing/2014/main" id="{28FC6E0D-8B1F-4141-A291-54E05BFC1D7A}"/>
              </a:ext>
            </a:extLst>
          </p:cNvPr>
          <p:cNvSpPr>
            <a:spLocks xmlns:a="http://schemas.openxmlformats.org/drawingml/2006/main" noGrp="1"/>
          </p:cNvSpPr>
          <p:nvPr/>
        </p:nvSpPr>
        <p:spPr>
          <a:xfrm xmlns:a="http://schemas.openxmlformats.org/drawingml/2006/main">
            <a:off x="523875" y="1171575"/>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250" b="1">
                <a:solidFill>
                  <a:srgbClr val="000000"/>
                </a:solidFill>
                <a:latin typeface="Arial"/>
                <a:ea typeface="Arial"/>
                <a:cs typeface="Arial"/>
              </a:defRPr>
            </a:pPr>
            <a:r>
              <a:rPr sz="2250" b="1">
                <a:solidFill>
                  <a:srgbClr val="000000"/>
                </a:solidFill>
                <a:latin typeface="Arial"/>
                <a:ea typeface="Arial"/>
                <a:cs typeface="Arial"/>
              </a:rPr>
              <a:t>Operator-theoretic framework</a:t>
            </a:r>
          </a:p>
        </p:txBody>
      </p:sp>
      <p:sp>
        <p:nvSpPr>
          <p:cNvPr id="7" name="operator-definition">
            <a:extLst xmlns:a="http://schemas.openxmlformats.org/drawingml/2006/main">
              <a:ext uri="{FF2B5EF4-FFF2-40B4-BE49-F238E27FC236}">
                <a16:creationId xmlns:a16="http://schemas.microsoft.com/office/drawing/2014/main" id="{407F2A82-C44D-407F-9AE6-949375A7FFF0}"/>
              </a:ext>
            </a:extLst>
          </p:cNvPr>
          <p:cNvSpPr>
            <a:spLocks xmlns:a="http://schemas.openxmlformats.org/drawingml/2006/main" noGrp="1"/>
          </p:cNvSpPr>
          <p:nvPr/>
        </p:nvSpPr>
        <p:spPr>
          <a:xfrm xmlns:a="http://schemas.openxmlformats.org/drawingml/2006/main">
            <a:off x="666750" y="15144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Φ: T → R</a:t>
            </a:r>
          </a:p>
        </p:txBody>
      </p:sp>
      <p:sp>
        <p:nvSpPr>
          <p:cNvPr id="8" name="operator-composition">
            <a:extLst xmlns:a="http://schemas.openxmlformats.org/drawingml/2006/main">
              <a:ext uri="{FF2B5EF4-FFF2-40B4-BE49-F238E27FC236}">
                <a16:creationId xmlns:a16="http://schemas.microsoft.com/office/drawing/2014/main" id="{C503810A-7D9C-4621-82DF-BF7DA3465DEE}"/>
              </a:ext>
            </a:extLst>
          </p:cNvPr>
          <p:cNvSpPr>
            <a:spLocks xmlns:a="http://schemas.openxmlformats.org/drawingml/2006/main" noGrp="1"/>
          </p:cNvSpPr>
          <p:nvPr/>
        </p:nvSpPr>
        <p:spPr>
          <a:xfrm xmlns:a="http://schemas.openxmlformats.org/drawingml/2006/main">
            <a:off x="523875" y="1905000"/>
            <a:ext cx="504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Composition of representation operators</a:t>
            </a:r>
          </a:p>
        </p:txBody>
      </p:sp>
      <p:sp>
        <p:nvSpPr>
          <p:cNvPr id="9" name="properties-title">
            <a:extLst xmlns:a="http://schemas.openxmlformats.org/drawingml/2006/main">
              <a:ext uri="{FF2B5EF4-FFF2-40B4-BE49-F238E27FC236}">
                <a16:creationId xmlns:a16="http://schemas.microsoft.com/office/drawing/2014/main" id="{6FE60F50-D6C0-4138-A430-EC8DA246C20B}"/>
              </a:ext>
            </a:extLst>
          </p:cNvPr>
          <p:cNvSpPr>
            <a:spLocks xmlns:a="http://schemas.openxmlformats.org/drawingml/2006/main" noGrp="1"/>
          </p:cNvSpPr>
          <p:nvPr/>
        </p:nvSpPr>
        <p:spPr>
          <a:xfrm xmlns:a="http://schemas.openxmlformats.org/drawingml/2006/main">
            <a:off x="5905500" y="1171575"/>
            <a:ext cx="876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1">
                <a:solidFill>
                  <a:srgbClr val="000000"/>
                </a:solidFill>
                <a:latin typeface="Arial"/>
                <a:ea typeface="Arial"/>
                <a:cs typeface="Arial"/>
              </a:defRPr>
            </a:pPr>
            <a:r>
              <a:rPr sz="2100" b="1">
                <a:solidFill>
                  <a:srgbClr val="000000"/>
                </a:solidFill>
                <a:latin typeface="Arial"/>
                <a:ea typeface="Arial"/>
                <a:cs typeface="Arial"/>
              </a:rPr>
              <a:t>Evaluation dimensions</a:t>
            </a:r>
          </a:p>
        </p:txBody>
      </p:sp>
      <p:sp>
        <p:nvSpPr>
          <p:cNvPr id="10" name="properties-1">
            <a:extLst xmlns:a="http://schemas.openxmlformats.org/drawingml/2006/main">
              <a:ext uri="{FF2B5EF4-FFF2-40B4-BE49-F238E27FC236}">
                <a16:creationId xmlns:a16="http://schemas.microsoft.com/office/drawing/2014/main" id="{32541B6D-1CA6-4C2B-AE58-FB6150D35BF8}"/>
              </a:ext>
            </a:extLst>
          </p:cNvPr>
          <p:cNvSpPr>
            <a:spLocks xmlns:a="http://schemas.openxmlformats.org/drawingml/2006/main" noGrp="1"/>
          </p:cNvSpPr>
          <p:nvPr/>
        </p:nvSpPr>
        <p:spPr>
          <a:xfrm xmlns:a="http://schemas.openxmlformats.org/drawingml/2006/main">
            <a:off x="5905500" y="15621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b="0">
                <a:solidFill>
                  <a:srgbClr val="000000"/>
                </a:solidFill>
                <a:latin typeface="Arial"/>
                <a:ea typeface="Arial"/>
                <a:cs typeface="Arial"/>
              </a:defRPr>
            </a:pPr>
            <a:r>
              <a:rPr sz="1950" b="0">
                <a:solidFill>
                  <a:srgbClr val="000000"/>
                </a:solidFill>
                <a:latin typeface="Arial"/>
                <a:ea typeface="Arial"/>
                <a:cs typeface="Arial"/>
              </a:rPr>
              <a:t>Information preservation, distance preservation</a:t>
            </a:r>
          </a:p>
        </p:txBody>
      </p:sp>
      <p:sp>
        <p:nvSpPr>
          <p:cNvPr id="11" name="properties-2">
            <a:extLst xmlns:a="http://schemas.openxmlformats.org/drawingml/2006/main">
              <a:ext uri="{FF2B5EF4-FFF2-40B4-BE49-F238E27FC236}">
                <a16:creationId xmlns:a16="http://schemas.microsoft.com/office/drawing/2014/main" id="{BB88831D-108A-4663-B82D-51FD9FF39CDB}"/>
              </a:ext>
            </a:extLst>
          </p:cNvPr>
          <p:cNvSpPr>
            <a:spLocks xmlns:a="http://schemas.openxmlformats.org/drawingml/2006/main" noGrp="1"/>
          </p:cNvSpPr>
          <p:nvPr/>
        </p:nvSpPr>
        <p:spPr>
          <a:xfrm xmlns:a="http://schemas.openxmlformats.org/drawingml/2006/main">
            <a:off x="5905500" y="1895475"/>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b="0">
                <a:solidFill>
                  <a:srgbClr val="000000"/>
                </a:solidFill>
                <a:latin typeface="Arial"/>
                <a:ea typeface="Arial"/>
                <a:cs typeface="Arial"/>
              </a:defRPr>
            </a:pPr>
            <a:r>
              <a:rPr sz="1950" b="0">
                <a:solidFill>
                  <a:srgbClr val="000000"/>
                </a:solidFill>
                <a:latin typeface="Arial"/>
                <a:ea typeface="Arial"/>
                <a:cs typeface="Arial"/>
              </a:rPr>
              <a:t>Invariance, reconstructability, commutativity</a:t>
            </a:r>
          </a:p>
        </p:txBody>
      </p:sp>
      <p:sp>
        <p:nvSpPr>
          <p:cNvPr id="12" name="theory-families">
            <a:extLst xmlns:a="http://schemas.openxmlformats.org/drawingml/2006/main">
              <a:ext uri="{FF2B5EF4-FFF2-40B4-BE49-F238E27FC236}">
                <a16:creationId xmlns:a16="http://schemas.microsoft.com/office/drawing/2014/main" id="{4684E15C-9274-490E-810D-78F4D2D4009F}"/>
              </a:ext>
            </a:extLst>
          </p:cNvPr>
          <p:cNvSpPr>
            <a:spLocks xmlns:a="http://schemas.openxmlformats.org/drawingml/2006/main" noGrp="1"/>
          </p:cNvSpPr>
          <p:nvPr/>
        </p:nvSpPr>
        <p:spPr>
          <a:xfrm xmlns:a="http://schemas.openxmlformats.org/drawingml/2006/main">
            <a:off x="7620000" y="2286000"/>
            <a:ext cx="0" cy="24765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13" name="representation-families">
            <a:extLst xmlns:a="http://schemas.openxmlformats.org/drawingml/2006/main">
              <a:ext uri="{FF2B5EF4-FFF2-40B4-BE49-F238E27FC236}">
                <a16:creationId xmlns:a16="http://schemas.microsoft.com/office/drawing/2014/main" id="{E90C2171-DE6D-49BB-B550-567332F3C31F}"/>
              </a:ext>
            </a:extLst>
          </p:cNvPr>
          <p:cNvSpPr>
            <a:spLocks xmlns:a="http://schemas.openxmlformats.org/drawingml/2006/main" noGrp="1"/>
          </p:cNvSpPr>
          <p:nvPr/>
        </p:nvSpPr>
        <p:spPr>
          <a:xfrm xmlns:a="http://schemas.openxmlformats.org/drawingml/2006/main">
            <a:off x="381000" y="2533650"/>
            <a:ext cx="14478000" cy="3533775"/>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14" name="families-title">
            <a:extLst xmlns:a="http://schemas.openxmlformats.org/drawingml/2006/main">
              <a:ext uri="{FF2B5EF4-FFF2-40B4-BE49-F238E27FC236}">
                <a16:creationId xmlns:a16="http://schemas.microsoft.com/office/drawing/2014/main" id="{8DAA8CC2-5A95-415A-9274-E338CD1BF695}"/>
              </a:ext>
            </a:extLst>
          </p:cNvPr>
          <p:cNvSpPr>
            <a:spLocks xmlns:a="http://schemas.openxmlformats.org/drawingml/2006/main" noGrp="1"/>
          </p:cNvSpPr>
          <p:nvPr/>
        </p:nvSpPr>
        <p:spPr>
          <a:xfrm xmlns:a="http://schemas.openxmlformats.org/drawingml/2006/main">
            <a:off x="571500" y="2628900"/>
            <a:ext cx="1409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250" b="1">
                <a:solidFill>
                  <a:srgbClr val="000000"/>
                </a:solidFill>
                <a:latin typeface="Arial"/>
                <a:ea typeface="Arial"/>
                <a:cs typeface="Arial"/>
              </a:defRPr>
            </a:pPr>
            <a:r>
              <a:rPr sz="2250" b="1">
                <a:solidFill>
                  <a:srgbClr val="000000"/>
                </a:solidFill>
                <a:latin typeface="Arial"/>
                <a:ea typeface="Arial"/>
                <a:cs typeface="Arial"/>
              </a:rPr>
              <a:t>Composable representation families</a:t>
            </a:r>
          </a:p>
        </p:txBody>
      </p:sp>
      <p:sp>
        <p:nvSpPr>
          <p:cNvPr id="15" name="vectorial">
            <a:extLst xmlns:a="http://schemas.openxmlformats.org/drawingml/2006/main">
              <a:ext uri="{FF2B5EF4-FFF2-40B4-BE49-F238E27FC236}">
                <a16:creationId xmlns:a16="http://schemas.microsoft.com/office/drawing/2014/main" id="{A2371507-ACF0-46CC-9355-A2E239517839}"/>
              </a:ext>
            </a:extLst>
          </p:cNvPr>
          <p:cNvSpPr>
            <a:spLocks xmlns:a="http://schemas.openxmlformats.org/drawingml/2006/main" noGrp="1"/>
          </p:cNvSpPr>
          <p:nvPr/>
        </p:nvSpPr>
        <p:spPr>
          <a:xfrm xmlns:a="http://schemas.openxmlformats.org/drawingml/2006/main">
            <a:off x="571500" y="3105150"/>
            <a:ext cx="457200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16" name="vectorial-title">
            <a:extLst xmlns:a="http://schemas.openxmlformats.org/drawingml/2006/main">
              <a:ext uri="{FF2B5EF4-FFF2-40B4-BE49-F238E27FC236}">
                <a16:creationId xmlns:a16="http://schemas.microsoft.com/office/drawing/2014/main" id="{9FC2528B-90B4-45BF-87C4-1974F9BEE070}"/>
              </a:ext>
            </a:extLst>
          </p:cNvPr>
          <p:cNvSpPr>
            <a:spLocks xmlns:a="http://schemas.openxmlformats.org/drawingml/2006/main" noGrp="1"/>
          </p:cNvSpPr>
          <p:nvPr/>
        </p:nvSpPr>
        <p:spPr>
          <a:xfrm xmlns:a="http://schemas.openxmlformats.org/drawingml/2006/main">
            <a:off x="666750" y="321945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Vectorial representations</a:t>
            </a:r>
          </a:p>
        </p:txBody>
      </p:sp>
      <p:sp>
        <p:nvSpPr>
          <p:cNvPr id="17" name="vectorial-detail-0">
            <a:extLst xmlns:a="http://schemas.openxmlformats.org/drawingml/2006/main">
              <a:ext uri="{FF2B5EF4-FFF2-40B4-BE49-F238E27FC236}">
                <a16:creationId xmlns:a16="http://schemas.microsoft.com/office/drawing/2014/main" id="{C7644B78-0511-46FB-B6AB-39ED06B1043E}"/>
              </a:ext>
            </a:extLst>
          </p:cNvPr>
          <p:cNvSpPr>
            <a:spLocks xmlns:a="http://schemas.openxmlformats.org/drawingml/2006/main" noGrp="1"/>
          </p:cNvSpPr>
          <p:nvPr/>
        </p:nvSpPr>
        <p:spPr>
          <a:xfrm xmlns:a="http://schemas.openxmlformats.org/drawingml/2006/main">
            <a:off x="666750" y="36385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PAA, SAA, PLA, APCA</a:t>
            </a:r>
          </a:p>
        </p:txBody>
      </p:sp>
      <p:sp>
        <p:nvSpPr>
          <p:cNvPr id="18" name="vectorial-detail-1">
            <a:extLst xmlns:a="http://schemas.openxmlformats.org/drawingml/2006/main">
              <a:ext uri="{FF2B5EF4-FFF2-40B4-BE49-F238E27FC236}">
                <a16:creationId xmlns:a16="http://schemas.microsoft.com/office/drawing/2014/main" id="{BF6B1490-EBB6-45FC-B258-18BAD3C16648}"/>
              </a:ext>
            </a:extLst>
          </p:cNvPr>
          <p:cNvSpPr>
            <a:spLocks xmlns:a="http://schemas.openxmlformats.org/drawingml/2006/main" noGrp="1"/>
          </p:cNvSpPr>
          <p:nvPr/>
        </p:nvSpPr>
        <p:spPr>
          <a:xfrm xmlns:a="http://schemas.openxmlformats.org/drawingml/2006/main">
            <a:off x="666750" y="39147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DFT, DWT, DCT, PCA</a:t>
            </a:r>
          </a:p>
        </p:txBody>
      </p:sp>
      <p:sp>
        <p:nvSpPr>
          <p:cNvPr id="19" name="component">
            <a:extLst xmlns:a="http://schemas.openxmlformats.org/drawingml/2006/main">
              <a:ext uri="{FF2B5EF4-FFF2-40B4-BE49-F238E27FC236}">
                <a16:creationId xmlns:a16="http://schemas.microsoft.com/office/drawing/2014/main" id="{8E4ED1AB-72ED-420E-935C-CE4D9CAEE643}"/>
              </a:ext>
            </a:extLst>
          </p:cNvPr>
          <p:cNvSpPr>
            <a:spLocks xmlns:a="http://schemas.openxmlformats.org/drawingml/2006/main" noGrp="1"/>
          </p:cNvSpPr>
          <p:nvPr/>
        </p:nvSpPr>
        <p:spPr>
          <a:xfrm xmlns:a="http://schemas.openxmlformats.org/drawingml/2006/main">
            <a:off x="5334000" y="3105150"/>
            <a:ext cx="457200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20" name="component-title">
            <a:extLst xmlns:a="http://schemas.openxmlformats.org/drawingml/2006/main">
              <a:ext uri="{FF2B5EF4-FFF2-40B4-BE49-F238E27FC236}">
                <a16:creationId xmlns:a16="http://schemas.microsoft.com/office/drawing/2014/main" id="{14638AAE-3982-4D97-915A-689FA9BE2E5F}"/>
              </a:ext>
            </a:extLst>
          </p:cNvPr>
          <p:cNvSpPr>
            <a:spLocks xmlns:a="http://schemas.openxmlformats.org/drawingml/2006/main" noGrp="1"/>
          </p:cNvSpPr>
          <p:nvPr/>
        </p:nvSpPr>
        <p:spPr>
          <a:xfrm xmlns:a="http://schemas.openxmlformats.org/drawingml/2006/main">
            <a:off x="5429250" y="321945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Component representations</a:t>
            </a:r>
          </a:p>
        </p:txBody>
      </p:sp>
      <p:sp>
        <p:nvSpPr>
          <p:cNvPr id="21" name="component-detail-0">
            <a:extLst xmlns:a="http://schemas.openxmlformats.org/drawingml/2006/main">
              <a:ext uri="{FF2B5EF4-FFF2-40B4-BE49-F238E27FC236}">
                <a16:creationId xmlns:a16="http://schemas.microsoft.com/office/drawing/2014/main" id="{D32E29CB-4BDC-49CF-BB2D-921703463F27}"/>
              </a:ext>
            </a:extLst>
          </p:cNvPr>
          <p:cNvSpPr>
            <a:spLocks xmlns:a="http://schemas.openxmlformats.org/drawingml/2006/main" noGrp="1"/>
          </p:cNvSpPr>
          <p:nvPr/>
        </p:nvSpPr>
        <p:spPr>
          <a:xfrm xmlns:a="http://schemas.openxmlformats.org/drawingml/2006/main">
            <a:off x="5429250" y="36385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EMD, SSA, STL</a:t>
            </a:r>
          </a:p>
        </p:txBody>
      </p:sp>
      <p:sp>
        <p:nvSpPr>
          <p:cNvPr id="22" name="component-detail-1">
            <a:extLst xmlns:a="http://schemas.openxmlformats.org/drawingml/2006/main">
              <a:ext uri="{FF2B5EF4-FFF2-40B4-BE49-F238E27FC236}">
                <a16:creationId xmlns:a16="http://schemas.microsoft.com/office/drawing/2014/main" id="{5BE93A29-FDED-413D-BA47-E79CC4E31121}"/>
              </a:ext>
            </a:extLst>
          </p:cNvPr>
          <p:cNvSpPr>
            <a:spLocks xmlns:a="http://schemas.openxmlformats.org/drawingml/2006/main" noGrp="1"/>
          </p:cNvSpPr>
          <p:nvPr/>
        </p:nvSpPr>
        <p:spPr>
          <a:xfrm xmlns:a="http://schemas.openxmlformats.org/drawingml/2006/main">
            <a:off x="5429250" y="39147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Work: DeTime, TSDecompose-Benchmark</a:t>
            </a:r>
          </a:p>
        </p:txBody>
      </p:sp>
      <p:sp>
        <p:nvSpPr>
          <p:cNvPr id="23" name="symbolic">
            <a:extLst xmlns:a="http://schemas.openxmlformats.org/drawingml/2006/main">
              <a:ext uri="{FF2B5EF4-FFF2-40B4-BE49-F238E27FC236}">
                <a16:creationId xmlns:a16="http://schemas.microsoft.com/office/drawing/2014/main" id="{053347D6-E773-444A-BF9F-D12791BA2DEA}"/>
              </a:ext>
            </a:extLst>
          </p:cNvPr>
          <p:cNvSpPr>
            <a:spLocks xmlns:a="http://schemas.openxmlformats.org/drawingml/2006/main" noGrp="1"/>
          </p:cNvSpPr>
          <p:nvPr/>
        </p:nvSpPr>
        <p:spPr>
          <a:xfrm xmlns:a="http://schemas.openxmlformats.org/drawingml/2006/main">
            <a:off x="10096500" y="3105150"/>
            <a:ext cx="457200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24" name="symbolic-title">
            <a:extLst xmlns:a="http://schemas.openxmlformats.org/drawingml/2006/main">
              <a:ext uri="{FF2B5EF4-FFF2-40B4-BE49-F238E27FC236}">
                <a16:creationId xmlns:a16="http://schemas.microsoft.com/office/drawing/2014/main" id="{30EB4E05-8CB6-4CAE-8358-97B2CC2851C0}"/>
              </a:ext>
            </a:extLst>
          </p:cNvPr>
          <p:cNvSpPr>
            <a:spLocks xmlns:a="http://schemas.openxmlformats.org/drawingml/2006/main" noGrp="1"/>
          </p:cNvSpPr>
          <p:nvPr/>
        </p:nvSpPr>
        <p:spPr>
          <a:xfrm xmlns:a="http://schemas.openxmlformats.org/drawingml/2006/main">
            <a:off x="10191750" y="321945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Symbolic representations</a:t>
            </a:r>
          </a:p>
        </p:txBody>
      </p:sp>
      <p:sp>
        <p:nvSpPr>
          <p:cNvPr id="25" name="symbolic-detail-0">
            <a:extLst xmlns:a="http://schemas.openxmlformats.org/drawingml/2006/main">
              <a:ext uri="{FF2B5EF4-FFF2-40B4-BE49-F238E27FC236}">
                <a16:creationId xmlns:a16="http://schemas.microsoft.com/office/drawing/2014/main" id="{CA905138-4394-496B-8566-C8C03A0A512E}"/>
              </a:ext>
            </a:extLst>
          </p:cNvPr>
          <p:cNvSpPr>
            <a:spLocks xmlns:a="http://schemas.openxmlformats.org/drawingml/2006/main" noGrp="1"/>
          </p:cNvSpPr>
          <p:nvPr/>
        </p:nvSpPr>
        <p:spPr>
          <a:xfrm xmlns:a="http://schemas.openxmlformats.org/drawingml/2006/main">
            <a:off x="10191750" y="36385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SAX, SAA-SAX, SFA, ABBA</a:t>
            </a:r>
          </a:p>
        </p:txBody>
      </p:sp>
      <p:sp>
        <p:nvSpPr>
          <p:cNvPr id="26" name="symbolic-detail-1">
            <a:extLst xmlns:a="http://schemas.openxmlformats.org/drawingml/2006/main">
              <a:ext uri="{FF2B5EF4-FFF2-40B4-BE49-F238E27FC236}">
                <a16:creationId xmlns:a16="http://schemas.microsoft.com/office/drawing/2014/main" id="{39FDF516-8069-4D9F-B082-1ABFA38A07EC}"/>
              </a:ext>
            </a:extLst>
          </p:cNvPr>
          <p:cNvSpPr>
            <a:spLocks xmlns:a="http://schemas.openxmlformats.org/drawingml/2006/main" noGrp="1"/>
          </p:cNvSpPr>
          <p:nvPr/>
        </p:nvSpPr>
        <p:spPr>
          <a:xfrm xmlns:a="http://schemas.openxmlformats.org/drawingml/2006/main">
            <a:off x="10191750" y="39147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Work: temporal tokenization</a:t>
            </a:r>
          </a:p>
        </p:txBody>
      </p:sp>
      <p:sp>
        <p:nvSpPr>
          <p:cNvPr id="27" name="features">
            <a:extLst xmlns:a="http://schemas.openxmlformats.org/drawingml/2006/main">
              <a:ext uri="{FF2B5EF4-FFF2-40B4-BE49-F238E27FC236}">
                <a16:creationId xmlns:a16="http://schemas.microsoft.com/office/drawing/2014/main" id="{B533C830-647C-461C-87CD-02F631DA088D}"/>
              </a:ext>
            </a:extLst>
          </p:cNvPr>
          <p:cNvSpPr>
            <a:spLocks xmlns:a="http://schemas.openxmlformats.org/drawingml/2006/main" noGrp="1"/>
          </p:cNvSpPr>
          <p:nvPr/>
        </p:nvSpPr>
        <p:spPr>
          <a:xfrm xmlns:a="http://schemas.openxmlformats.org/drawingml/2006/main">
            <a:off x="571500" y="4572000"/>
            <a:ext cx="457200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28" name="features-title">
            <a:extLst xmlns:a="http://schemas.openxmlformats.org/drawingml/2006/main">
              <a:ext uri="{FF2B5EF4-FFF2-40B4-BE49-F238E27FC236}">
                <a16:creationId xmlns:a16="http://schemas.microsoft.com/office/drawing/2014/main" id="{C6D93C33-B1E8-4ED1-AD03-637630F8E0EC}"/>
              </a:ext>
            </a:extLst>
          </p:cNvPr>
          <p:cNvSpPr>
            <a:spLocks xmlns:a="http://schemas.openxmlformats.org/drawingml/2006/main" noGrp="1"/>
          </p:cNvSpPr>
          <p:nvPr/>
        </p:nvSpPr>
        <p:spPr>
          <a:xfrm xmlns:a="http://schemas.openxmlformats.org/drawingml/2006/main">
            <a:off x="666750" y="46863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Statistical &amp; dynamical features</a:t>
            </a:r>
          </a:p>
        </p:txBody>
      </p:sp>
      <p:sp>
        <p:nvSpPr>
          <p:cNvPr id="29" name="features-detail-0">
            <a:extLst xmlns:a="http://schemas.openxmlformats.org/drawingml/2006/main">
              <a:ext uri="{FF2B5EF4-FFF2-40B4-BE49-F238E27FC236}">
                <a16:creationId xmlns:a16="http://schemas.microsoft.com/office/drawing/2014/main" id="{9292D46B-AC90-4EAE-A331-547C959DC759}"/>
              </a:ext>
            </a:extLst>
          </p:cNvPr>
          <p:cNvSpPr>
            <a:spLocks xmlns:a="http://schemas.openxmlformats.org/drawingml/2006/main" noGrp="1"/>
          </p:cNvSpPr>
          <p:nvPr/>
        </p:nvSpPr>
        <p:spPr>
          <a:xfrm xmlns:a="http://schemas.openxmlformats.org/drawingml/2006/main">
            <a:off x="666750" y="51054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Statistical moments, entropy, recurrence</a:t>
            </a:r>
          </a:p>
        </p:txBody>
      </p:sp>
      <p:sp>
        <p:nvSpPr>
          <p:cNvPr id="30" name="features-detail-1">
            <a:extLst xmlns:a="http://schemas.openxmlformats.org/drawingml/2006/main">
              <a:ext uri="{FF2B5EF4-FFF2-40B4-BE49-F238E27FC236}">
                <a16:creationId xmlns:a16="http://schemas.microsoft.com/office/drawing/2014/main" id="{BAF8FF90-D48C-4D27-9440-BBC0E8F381AF}"/>
              </a:ext>
            </a:extLst>
          </p:cNvPr>
          <p:cNvSpPr>
            <a:spLocks xmlns:a="http://schemas.openxmlformats.org/drawingml/2006/main" noGrp="1"/>
          </p:cNvSpPr>
          <p:nvPr/>
        </p:nvSpPr>
        <p:spPr>
          <a:xfrm xmlns:a="http://schemas.openxmlformats.org/drawingml/2006/main">
            <a:off x="666750" y="5381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SampEn, PE, RQA</a:t>
            </a:r>
          </a:p>
        </p:txBody>
      </p:sp>
      <p:sp>
        <p:nvSpPr>
          <p:cNvPr id="31" name="structural">
            <a:extLst xmlns:a="http://schemas.openxmlformats.org/drawingml/2006/main">
              <a:ext uri="{FF2B5EF4-FFF2-40B4-BE49-F238E27FC236}">
                <a16:creationId xmlns:a16="http://schemas.microsoft.com/office/drawing/2014/main" id="{A60F2C33-8CFB-4525-9633-827A9E012578}"/>
              </a:ext>
            </a:extLst>
          </p:cNvPr>
          <p:cNvSpPr>
            <a:spLocks xmlns:a="http://schemas.openxmlformats.org/drawingml/2006/main" noGrp="1"/>
          </p:cNvSpPr>
          <p:nvPr/>
        </p:nvSpPr>
        <p:spPr>
          <a:xfrm xmlns:a="http://schemas.openxmlformats.org/drawingml/2006/main">
            <a:off x="5334000" y="4572000"/>
            <a:ext cx="457200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32" name="structural-title">
            <a:extLst xmlns:a="http://schemas.openxmlformats.org/drawingml/2006/main">
              <a:ext uri="{FF2B5EF4-FFF2-40B4-BE49-F238E27FC236}">
                <a16:creationId xmlns:a16="http://schemas.microsoft.com/office/drawing/2014/main" id="{DE42A067-113C-4170-9EC7-16A752010827}"/>
              </a:ext>
            </a:extLst>
          </p:cNvPr>
          <p:cNvSpPr>
            <a:spLocks xmlns:a="http://schemas.openxmlformats.org/drawingml/2006/main" noGrp="1"/>
          </p:cNvSpPr>
          <p:nvPr/>
        </p:nvSpPr>
        <p:spPr>
          <a:xfrm xmlns:a="http://schemas.openxmlformats.org/drawingml/2006/main">
            <a:off x="5429250" y="46863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Image &amp; graph representations</a:t>
            </a:r>
          </a:p>
        </p:txBody>
      </p:sp>
      <p:sp>
        <p:nvSpPr>
          <p:cNvPr id="33" name="structural-detail-0">
            <a:extLst xmlns:a="http://schemas.openxmlformats.org/drawingml/2006/main">
              <a:ext uri="{FF2B5EF4-FFF2-40B4-BE49-F238E27FC236}">
                <a16:creationId xmlns:a16="http://schemas.microsoft.com/office/drawing/2014/main" id="{128CEEC8-27FC-4898-B541-5E0F07B0CAF7}"/>
              </a:ext>
            </a:extLst>
          </p:cNvPr>
          <p:cNvSpPr>
            <a:spLocks xmlns:a="http://schemas.openxmlformats.org/drawingml/2006/main" noGrp="1"/>
          </p:cNvSpPr>
          <p:nvPr/>
        </p:nvSpPr>
        <p:spPr>
          <a:xfrm xmlns:a="http://schemas.openxmlformats.org/drawingml/2006/main">
            <a:off x="5429250" y="51054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GAF, MTF, RP, visibility graphs</a:t>
            </a:r>
          </a:p>
        </p:txBody>
      </p:sp>
      <p:sp>
        <p:nvSpPr>
          <p:cNvPr id="34" name="structural-detail-1">
            <a:extLst xmlns:a="http://schemas.openxmlformats.org/drawingml/2006/main">
              <a:ext uri="{FF2B5EF4-FFF2-40B4-BE49-F238E27FC236}">
                <a16:creationId xmlns:a16="http://schemas.microsoft.com/office/drawing/2014/main" id="{2A2AF773-63A8-408D-8534-B940B76041B5}"/>
              </a:ext>
            </a:extLst>
          </p:cNvPr>
          <p:cNvSpPr>
            <a:spLocks xmlns:a="http://schemas.openxmlformats.org/drawingml/2006/main" noGrp="1"/>
          </p:cNvSpPr>
          <p:nvPr/>
        </p:nvSpPr>
        <p:spPr>
          <a:xfrm xmlns:a="http://schemas.openxmlformats.org/drawingml/2006/main">
            <a:off x="5429250" y="5381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0">
                <a:solidFill>
                  <a:srgbClr val="000000"/>
                </a:solidFill>
                <a:latin typeface="Arial"/>
                <a:ea typeface="Arial"/>
                <a:cs typeface="Arial"/>
              </a:defRPr>
            </a:pPr>
            <a:r>
              <a:rPr sz="1725" b="0">
                <a:solidFill>
                  <a:srgbClr val="000000"/>
                </a:solidFill>
                <a:latin typeface="Arial"/>
                <a:ea typeface="Arial"/>
                <a:cs typeface="Arial"/>
              </a:rPr>
              <a:t>Time-frequency maps: STFT, CWT</a:t>
            </a:r>
          </a:p>
        </p:txBody>
      </p:sp>
      <p:sp>
        <p:nvSpPr>
          <p:cNvPr id="35" name="learned">
            <a:extLst xmlns:a="http://schemas.openxmlformats.org/drawingml/2006/main">
              <a:ext uri="{FF2B5EF4-FFF2-40B4-BE49-F238E27FC236}">
                <a16:creationId xmlns:a16="http://schemas.microsoft.com/office/drawing/2014/main" id="{F77C7EA8-9CC0-46E2-B782-8A1B2461EED2}"/>
              </a:ext>
            </a:extLst>
          </p:cNvPr>
          <p:cNvSpPr>
            <a:spLocks xmlns:a="http://schemas.openxmlformats.org/drawingml/2006/main" noGrp="1"/>
          </p:cNvSpPr>
          <p:nvPr/>
        </p:nvSpPr>
        <p:spPr>
          <a:xfrm xmlns:a="http://schemas.openxmlformats.org/drawingml/2006/main">
            <a:off x="10096500" y="4572000"/>
            <a:ext cx="457200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36" name="learned-title">
            <a:extLst xmlns:a="http://schemas.openxmlformats.org/drawingml/2006/main">
              <a:ext uri="{FF2B5EF4-FFF2-40B4-BE49-F238E27FC236}">
                <a16:creationId xmlns:a16="http://schemas.microsoft.com/office/drawing/2014/main" id="{A2356EFD-F970-41F0-A04B-86BEA486A8F9}"/>
              </a:ext>
            </a:extLst>
          </p:cNvPr>
          <p:cNvSpPr>
            <a:spLocks xmlns:a="http://schemas.openxmlformats.org/drawingml/2006/main" noGrp="1"/>
          </p:cNvSpPr>
          <p:nvPr/>
        </p:nvSpPr>
        <p:spPr>
          <a:xfrm xmlns:a="http://schemas.openxmlformats.org/drawingml/2006/main">
            <a:off x="10191750" y="46863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Learned embeddings</a:t>
            </a:r>
          </a:p>
        </p:txBody>
      </p:sp>
      <p:sp>
        <p:nvSpPr>
          <p:cNvPr id="37" name="learned-detail-0">
            <a:extLst xmlns:a="http://schemas.openxmlformats.org/drawingml/2006/main">
              <a:ext uri="{FF2B5EF4-FFF2-40B4-BE49-F238E27FC236}">
                <a16:creationId xmlns:a16="http://schemas.microsoft.com/office/drawing/2014/main" id="{81B79702-2D26-4A63-BB35-96FF26D6C6FE}"/>
              </a:ext>
            </a:extLst>
          </p:cNvPr>
          <p:cNvSpPr>
            <a:spLocks xmlns:a="http://schemas.openxmlformats.org/drawingml/2006/main" noGrp="1"/>
          </p:cNvSpPr>
          <p:nvPr/>
        </p:nvSpPr>
        <p:spPr>
          <a:xfrm xmlns:a="http://schemas.openxmlformats.org/drawingml/2006/main">
            <a:off x="10191750" y="51054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Neural encoders and latent representations</a:t>
            </a:r>
          </a:p>
        </p:txBody>
      </p:sp>
      <p:sp>
        <p:nvSpPr>
          <p:cNvPr id="38" name="learned-detail-1">
            <a:extLst xmlns:a="http://schemas.openxmlformats.org/drawingml/2006/main">
              <a:ext uri="{FF2B5EF4-FFF2-40B4-BE49-F238E27FC236}">
                <a16:creationId xmlns:a16="http://schemas.microsoft.com/office/drawing/2014/main" id="{F70A9523-44F7-47D9-801C-270C37337249}"/>
              </a:ext>
            </a:extLst>
          </p:cNvPr>
          <p:cNvSpPr>
            <a:spLocks xmlns:a="http://schemas.openxmlformats.org/drawingml/2006/main" noGrp="1"/>
          </p:cNvSpPr>
          <p:nvPr/>
        </p:nvSpPr>
        <p:spPr>
          <a:xfrm xmlns:a="http://schemas.openxmlformats.org/drawingml/2006/main">
            <a:off x="10191750" y="5381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Extension: foundation and world models</a:t>
            </a:r>
          </a:p>
        </p:txBody>
      </p:sp>
      <p:sp>
        <p:nvSpPr>
          <p:cNvPr id="39" name="families-stem">
            <a:extLst xmlns:a="http://schemas.openxmlformats.org/drawingml/2006/main">
              <a:ext uri="{FF2B5EF4-FFF2-40B4-BE49-F238E27FC236}">
                <a16:creationId xmlns:a16="http://schemas.microsoft.com/office/drawing/2014/main" id="{45934D0F-8959-4F86-A1B7-4B144158352B}"/>
              </a:ext>
            </a:extLst>
          </p:cNvPr>
          <p:cNvSpPr>
            <a:spLocks xmlns:a="http://schemas.openxmlformats.org/drawingml/2006/main" noGrp="1"/>
          </p:cNvSpPr>
          <p:nvPr/>
        </p:nvSpPr>
        <p:spPr>
          <a:xfrm xmlns:a="http://schemas.openxmlformats.org/drawingml/2006/main">
            <a:off x="7620000" y="6067425"/>
            <a:ext cx="0" cy="123825"/>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40" name="comparison-task-branch">
            <a:extLst xmlns:a="http://schemas.openxmlformats.org/drawingml/2006/main">
              <a:ext uri="{FF2B5EF4-FFF2-40B4-BE49-F238E27FC236}">
                <a16:creationId xmlns:a16="http://schemas.microsoft.com/office/drawing/2014/main" id="{D9B175F0-749D-42F6-A0DA-8FEA8AB6741C}"/>
              </a:ext>
            </a:extLst>
          </p:cNvPr>
          <p:cNvSpPr>
            <a:spLocks xmlns:a="http://schemas.openxmlformats.org/drawingml/2006/main" noGrp="1"/>
          </p:cNvSpPr>
          <p:nvPr/>
        </p:nvSpPr>
        <p:spPr>
          <a:xfrm xmlns:a="http://schemas.openxmlformats.org/drawingml/2006/main">
            <a:off x="3857625" y="6191250"/>
            <a:ext cx="75247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41" name="comparison-connection">
            <a:extLst xmlns:a="http://schemas.openxmlformats.org/drawingml/2006/main">
              <a:ext uri="{FF2B5EF4-FFF2-40B4-BE49-F238E27FC236}">
                <a16:creationId xmlns:a16="http://schemas.microsoft.com/office/drawing/2014/main" id="{08BEC999-16DF-4BD9-AAFD-2AA34EC55201}"/>
              </a:ext>
            </a:extLst>
          </p:cNvPr>
          <p:cNvSpPr>
            <a:spLocks xmlns:a="http://schemas.openxmlformats.org/drawingml/2006/main" noGrp="1"/>
          </p:cNvSpPr>
          <p:nvPr/>
        </p:nvSpPr>
        <p:spPr>
          <a:xfrm xmlns:a="http://schemas.openxmlformats.org/drawingml/2006/main">
            <a:off x="3857625" y="6191250"/>
            <a:ext cx="0" cy="161925"/>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42" name="task-connection">
            <a:extLst xmlns:a="http://schemas.openxmlformats.org/drawingml/2006/main">
              <a:ext uri="{FF2B5EF4-FFF2-40B4-BE49-F238E27FC236}">
                <a16:creationId xmlns:a16="http://schemas.microsoft.com/office/drawing/2014/main" id="{B5AF91BD-F9C1-44E7-8616-595550D3BDCC}"/>
              </a:ext>
            </a:extLst>
          </p:cNvPr>
          <p:cNvSpPr>
            <a:spLocks xmlns:a="http://schemas.openxmlformats.org/drawingml/2006/main" noGrp="1"/>
          </p:cNvSpPr>
          <p:nvPr/>
        </p:nvSpPr>
        <p:spPr>
          <a:xfrm xmlns:a="http://schemas.openxmlformats.org/drawingml/2006/main">
            <a:off x="11382375" y="6191250"/>
            <a:ext cx="0" cy="161925"/>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43" name="comparison">
            <a:extLst xmlns:a="http://schemas.openxmlformats.org/drawingml/2006/main">
              <a:ext uri="{FF2B5EF4-FFF2-40B4-BE49-F238E27FC236}">
                <a16:creationId xmlns:a16="http://schemas.microsoft.com/office/drawing/2014/main" id="{D253C617-56CB-4C25-BE43-6D861D872432}"/>
              </a:ext>
            </a:extLst>
          </p:cNvPr>
          <p:cNvSpPr>
            <a:spLocks xmlns:a="http://schemas.openxmlformats.org/drawingml/2006/main" noGrp="1"/>
          </p:cNvSpPr>
          <p:nvPr/>
        </p:nvSpPr>
        <p:spPr>
          <a:xfrm xmlns:a="http://schemas.openxmlformats.org/drawingml/2006/main">
            <a:off x="381000" y="6353175"/>
            <a:ext cx="695325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44" name="comparison-title">
            <a:extLst xmlns:a="http://schemas.openxmlformats.org/drawingml/2006/main">
              <a:ext uri="{FF2B5EF4-FFF2-40B4-BE49-F238E27FC236}">
                <a16:creationId xmlns:a16="http://schemas.microsoft.com/office/drawing/2014/main" id="{A65F962A-6E03-48F8-AF20-80300EAAA699}"/>
              </a:ext>
            </a:extLst>
          </p:cNvPr>
          <p:cNvSpPr>
            <a:spLocks xmlns:a="http://schemas.openxmlformats.org/drawingml/2006/main" noGrp="1"/>
          </p:cNvSpPr>
          <p:nvPr/>
        </p:nvSpPr>
        <p:spPr>
          <a:xfrm xmlns:a="http://schemas.openxmlformats.org/drawingml/2006/main">
            <a:off x="523875" y="64198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1">
                <a:solidFill>
                  <a:srgbClr val="000000"/>
                </a:solidFill>
                <a:latin typeface="Arial"/>
                <a:ea typeface="Arial"/>
                <a:cs typeface="Arial"/>
              </a:defRPr>
            </a:pPr>
            <a:r>
              <a:rPr sz="2100" b="1">
                <a:solidFill>
                  <a:srgbClr val="000000"/>
                </a:solidFill>
                <a:latin typeface="Arial"/>
                <a:ea typeface="Arial"/>
                <a:cs typeface="Arial"/>
              </a:rPr>
              <a:t>Comparison and relational features</a:t>
            </a:r>
          </a:p>
        </p:txBody>
      </p:sp>
      <p:sp>
        <p:nvSpPr>
          <p:cNvPr id="45" name="comparison-pairwise">
            <a:extLst xmlns:a="http://schemas.openxmlformats.org/drawingml/2006/main">
              <a:ext uri="{FF2B5EF4-FFF2-40B4-BE49-F238E27FC236}">
                <a16:creationId xmlns:a16="http://schemas.microsoft.com/office/drawing/2014/main" id="{C61A1840-9272-4236-870F-6D2CBC9D0078}"/>
              </a:ext>
            </a:extLst>
          </p:cNvPr>
          <p:cNvSpPr>
            <a:spLocks xmlns:a="http://schemas.openxmlformats.org/drawingml/2006/main" noGrp="1"/>
          </p:cNvSpPr>
          <p:nvPr/>
        </p:nvSpPr>
        <p:spPr>
          <a:xfrm xmlns:a="http://schemas.openxmlformats.org/drawingml/2006/main">
            <a:off x="523875" y="6772275"/>
            <a:ext cx="666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000000"/>
                </a:solidFill>
                <a:latin typeface="Arial"/>
                <a:ea typeface="Arial"/>
                <a:cs typeface="Arial"/>
              </a:defRPr>
            </a:pPr>
            <a:r>
              <a:rPr sz="1800" b="0">
                <a:solidFill>
                  <a:srgbClr val="000000"/>
                </a:solidFill>
                <a:latin typeface="Arial"/>
                <a:ea typeface="Arial"/>
                <a:cs typeface="Arial"/>
              </a:rPr>
              <a:t>Pairwise distances: Euclidean, DTW</a:t>
            </a:r>
          </a:p>
        </p:txBody>
      </p:sp>
      <p:sp>
        <p:nvSpPr>
          <p:cNvPr id="46" name="comparison-features">
            <a:extLst xmlns:a="http://schemas.openxmlformats.org/drawingml/2006/main">
              <a:ext uri="{FF2B5EF4-FFF2-40B4-BE49-F238E27FC236}">
                <a16:creationId xmlns:a16="http://schemas.microsoft.com/office/drawing/2014/main" id="{1F336104-63A7-4832-830F-148C2B937572}"/>
              </a:ext>
            </a:extLst>
          </p:cNvPr>
          <p:cNvSpPr>
            <a:spLocks xmlns:a="http://schemas.openxmlformats.org/drawingml/2006/main" noGrp="1"/>
          </p:cNvSpPr>
          <p:nvPr/>
        </p:nvSpPr>
        <p:spPr>
          <a:xfrm xmlns:a="http://schemas.openxmlformats.org/drawingml/2006/main">
            <a:off x="523875" y="707707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0">
                <a:solidFill>
                  <a:srgbClr val="000000"/>
                </a:solidFill>
                <a:latin typeface="Arial"/>
                <a:ea typeface="Arial"/>
                <a:cs typeface="Arial"/>
              </a:defRPr>
            </a:pPr>
            <a:r>
              <a:rPr sz="1650" b="0">
                <a:solidFill>
                  <a:srgbClr val="000000"/>
                </a:solidFill>
                <a:latin typeface="Arial"/>
                <a:ea typeface="Arial"/>
                <a:cs typeface="Arial"/>
              </a:rPr>
              <a:t>Relational features: Matrix Profile, Shapelet Transform</a:t>
            </a:r>
          </a:p>
        </p:txBody>
      </p:sp>
      <p:sp>
        <p:nvSpPr>
          <p:cNvPr id="47" name="comparison-work">
            <a:extLst xmlns:a="http://schemas.openxmlformats.org/drawingml/2006/main">
              <a:ext uri="{FF2B5EF4-FFF2-40B4-BE49-F238E27FC236}">
                <a16:creationId xmlns:a16="http://schemas.microsoft.com/office/drawing/2014/main" id="{A0517B14-704B-4E07-81B7-7C869E666834}"/>
              </a:ext>
            </a:extLst>
          </p:cNvPr>
          <p:cNvSpPr>
            <a:spLocks xmlns:a="http://schemas.openxmlformats.org/drawingml/2006/main" noGrp="1"/>
          </p:cNvSpPr>
          <p:nvPr/>
        </p:nvSpPr>
        <p:spPr>
          <a:xfrm xmlns:a="http://schemas.openxmlformats.org/drawingml/2006/main">
            <a:off x="523875" y="737235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0">
                <a:solidFill>
                  <a:srgbClr val="000000"/>
                </a:solidFill>
                <a:latin typeface="Arial"/>
                <a:ea typeface="Arial"/>
                <a:cs typeface="Arial"/>
              </a:defRPr>
            </a:pPr>
            <a:r>
              <a:rPr sz="1650" b="0">
                <a:solidFill>
                  <a:srgbClr val="000000"/>
                </a:solidFill>
                <a:latin typeface="Arial"/>
                <a:ea typeface="Arial"/>
                <a:cs typeface="Arial"/>
              </a:rPr>
              <a:t>Work: EchoTime and structural retrieval</a:t>
            </a:r>
          </a:p>
        </p:txBody>
      </p:sp>
      <p:sp>
        <p:nvSpPr>
          <p:cNvPr id="48" name="tasks">
            <a:extLst xmlns:a="http://schemas.openxmlformats.org/drawingml/2006/main">
              <a:ext uri="{FF2B5EF4-FFF2-40B4-BE49-F238E27FC236}">
                <a16:creationId xmlns:a16="http://schemas.microsoft.com/office/drawing/2014/main" id="{5C9D2DB1-2596-460F-AE98-E80AE879EE96}"/>
              </a:ext>
            </a:extLst>
          </p:cNvPr>
          <p:cNvSpPr>
            <a:spLocks xmlns:a="http://schemas.openxmlformats.org/drawingml/2006/main" noGrp="1"/>
          </p:cNvSpPr>
          <p:nvPr/>
        </p:nvSpPr>
        <p:spPr>
          <a:xfrm xmlns:a="http://schemas.openxmlformats.org/drawingml/2006/main">
            <a:off x="7905750" y="6353175"/>
            <a:ext cx="6953250" cy="131445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49" name="tasks-title">
            <a:extLst xmlns:a="http://schemas.openxmlformats.org/drawingml/2006/main">
              <a:ext uri="{FF2B5EF4-FFF2-40B4-BE49-F238E27FC236}">
                <a16:creationId xmlns:a16="http://schemas.microsoft.com/office/drawing/2014/main" id="{C159090B-4CC7-4EDC-A456-10BE4D9A130C}"/>
              </a:ext>
            </a:extLst>
          </p:cNvPr>
          <p:cNvSpPr>
            <a:spLocks xmlns:a="http://schemas.openxmlformats.org/drawingml/2006/main" noGrp="1"/>
          </p:cNvSpPr>
          <p:nvPr/>
        </p:nvSpPr>
        <p:spPr>
          <a:xfrm xmlns:a="http://schemas.openxmlformats.org/drawingml/2006/main">
            <a:off x="8048625" y="64198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b="1">
                <a:solidFill>
                  <a:srgbClr val="000000"/>
                </a:solidFill>
                <a:latin typeface="Arial"/>
                <a:ea typeface="Arial"/>
                <a:cs typeface="Arial"/>
              </a:defRPr>
            </a:pPr>
            <a:r>
              <a:rPr sz="2100" b="1">
                <a:solidFill>
                  <a:srgbClr val="000000"/>
                </a:solidFill>
                <a:latin typeface="Arial"/>
                <a:ea typeface="Arial"/>
                <a:cs typeface="Arial"/>
              </a:rPr>
              <a:t>Downstream tasks</a:t>
            </a:r>
          </a:p>
        </p:txBody>
      </p:sp>
      <p:sp>
        <p:nvSpPr>
          <p:cNvPr id="50" name="tasks-1">
            <a:extLst xmlns:a="http://schemas.openxmlformats.org/drawingml/2006/main">
              <a:ext uri="{FF2B5EF4-FFF2-40B4-BE49-F238E27FC236}">
                <a16:creationId xmlns:a16="http://schemas.microsoft.com/office/drawing/2014/main" id="{0988740A-F820-4E3C-92A5-23D7FE18D750}"/>
              </a:ext>
            </a:extLst>
          </p:cNvPr>
          <p:cNvSpPr>
            <a:spLocks xmlns:a="http://schemas.openxmlformats.org/drawingml/2006/main" noGrp="1"/>
          </p:cNvSpPr>
          <p:nvPr/>
        </p:nvSpPr>
        <p:spPr>
          <a:xfrm xmlns:a="http://schemas.openxmlformats.org/drawingml/2006/main">
            <a:off x="8048625" y="6772275"/>
            <a:ext cx="666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000000"/>
                </a:solidFill>
                <a:latin typeface="Arial"/>
                <a:ea typeface="Arial"/>
                <a:cs typeface="Arial"/>
              </a:defRPr>
            </a:pPr>
            <a:r>
              <a:rPr sz="1800" b="0">
                <a:solidFill>
                  <a:srgbClr val="000000"/>
                </a:solidFill>
                <a:latin typeface="Arial"/>
                <a:ea typeface="Arial"/>
                <a:cs typeface="Arial"/>
              </a:rPr>
              <a:t>Forecasting and regression, classification</a:t>
            </a:r>
          </a:p>
        </p:txBody>
      </p:sp>
      <p:sp>
        <p:nvSpPr>
          <p:cNvPr id="51" name="tasks-2">
            <a:extLst xmlns:a="http://schemas.openxmlformats.org/drawingml/2006/main">
              <a:ext uri="{FF2B5EF4-FFF2-40B4-BE49-F238E27FC236}">
                <a16:creationId xmlns:a16="http://schemas.microsoft.com/office/drawing/2014/main" id="{D3A7ED46-A927-4E7D-838D-D2C10ABA23E4}"/>
              </a:ext>
            </a:extLst>
          </p:cNvPr>
          <p:cNvSpPr>
            <a:spLocks xmlns:a="http://schemas.openxmlformats.org/drawingml/2006/main" noGrp="1"/>
          </p:cNvSpPr>
          <p:nvPr/>
        </p:nvSpPr>
        <p:spPr>
          <a:xfrm xmlns:a="http://schemas.openxmlformats.org/drawingml/2006/main">
            <a:off x="8048625" y="7067550"/>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b="0">
                <a:solidFill>
                  <a:srgbClr val="000000"/>
                </a:solidFill>
                <a:latin typeface="Arial"/>
                <a:ea typeface="Arial"/>
                <a:cs typeface="Arial"/>
              </a:defRPr>
            </a:pPr>
            <a:r>
              <a:rPr sz="1800" b="0">
                <a:solidFill>
                  <a:srgbClr val="000000"/>
                </a:solidFill>
                <a:latin typeface="Arial"/>
                <a:ea typeface="Arial"/>
                <a:cs typeface="Arial"/>
              </a:rPr>
              <a:t>Clustering, anomaly detection</a:t>
            </a:r>
          </a:p>
        </p:txBody>
      </p:sp>
      <p:sp>
        <p:nvSpPr>
          <p:cNvPr id="52" name="tasks-work">
            <a:extLst xmlns:a="http://schemas.openxmlformats.org/drawingml/2006/main">
              <a:ext uri="{FF2B5EF4-FFF2-40B4-BE49-F238E27FC236}">
                <a16:creationId xmlns:a16="http://schemas.microsoft.com/office/drawing/2014/main" id="{0151250E-8E54-43FF-B4C1-97C4DCDC2310}"/>
              </a:ext>
            </a:extLst>
          </p:cNvPr>
          <p:cNvSpPr>
            <a:spLocks xmlns:a="http://schemas.openxmlformats.org/drawingml/2006/main" noGrp="1"/>
          </p:cNvSpPr>
          <p:nvPr/>
        </p:nvSpPr>
        <p:spPr>
          <a:xfrm xmlns:a="http://schemas.openxmlformats.org/drawingml/2006/main">
            <a:off x="8048625" y="737235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0">
                <a:solidFill>
                  <a:srgbClr val="000000"/>
                </a:solidFill>
                <a:latin typeface="Arial"/>
                <a:ea typeface="Arial"/>
                <a:cs typeface="Arial"/>
              </a:defRPr>
            </a:pPr>
            <a:r>
              <a:rPr sz="1575" b="0">
                <a:solidFill>
                  <a:srgbClr val="000000"/>
                </a:solidFill>
                <a:latin typeface="Arial"/>
                <a:ea typeface="Arial"/>
                <a:cs typeface="Arial"/>
              </a:rPr>
              <a:t>Work: retrieval / multi-output prediction, current classification</a:t>
            </a:r>
          </a:p>
        </p:txBody>
      </p:sp>
      <p:sp>
        <p:nvSpPr>
          <p:cNvPr id="53" name="design-goals">
            <a:extLst xmlns:a="http://schemas.openxmlformats.org/drawingml/2006/main">
              <a:ext uri="{FF2B5EF4-FFF2-40B4-BE49-F238E27FC236}">
                <a16:creationId xmlns:a16="http://schemas.microsoft.com/office/drawing/2014/main" id="{0A3FA99B-D0D0-41D8-8656-51480E23EA1A}"/>
              </a:ext>
            </a:extLst>
          </p:cNvPr>
          <p:cNvSpPr>
            <a:spLocks xmlns:a="http://schemas.openxmlformats.org/drawingml/2006/main" noGrp="1"/>
          </p:cNvSpPr>
          <p:nvPr/>
        </p:nvSpPr>
        <p:spPr>
          <a:xfrm xmlns:a="http://schemas.openxmlformats.org/drawingml/2006/main">
            <a:off x="381000" y="7886700"/>
            <a:ext cx="14478000" cy="523875"/>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54" name="goals-title">
            <a:extLst xmlns:a="http://schemas.openxmlformats.org/drawingml/2006/main">
              <a:ext uri="{FF2B5EF4-FFF2-40B4-BE49-F238E27FC236}">
                <a16:creationId xmlns:a16="http://schemas.microsoft.com/office/drawing/2014/main" id="{5D9BBA8B-C51C-4BFE-8AF3-C14BAEB004E3}"/>
              </a:ext>
            </a:extLst>
          </p:cNvPr>
          <p:cNvSpPr>
            <a:spLocks xmlns:a="http://schemas.openxmlformats.org/drawingml/2006/main" noGrp="1"/>
          </p:cNvSpPr>
          <p:nvPr/>
        </p:nvSpPr>
        <p:spPr>
          <a:xfrm xmlns:a="http://schemas.openxmlformats.org/drawingml/2006/main">
            <a:off x="523875" y="800100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b="1">
                <a:solidFill>
                  <a:srgbClr val="000000"/>
                </a:solidFill>
                <a:latin typeface="Arial"/>
                <a:ea typeface="Arial"/>
                <a:cs typeface="Arial"/>
              </a:defRPr>
            </a:pPr>
            <a:r>
              <a:rPr sz="2025" b="1">
                <a:solidFill>
                  <a:srgbClr val="000000"/>
                </a:solidFill>
                <a:latin typeface="Arial"/>
                <a:ea typeface="Arial"/>
                <a:cs typeface="Arial"/>
              </a:rPr>
              <a:t>Cross-family goals</a:t>
            </a:r>
          </a:p>
        </p:txBody>
      </p:sp>
      <p:sp>
        <p:nvSpPr>
          <p:cNvPr id="55" name="goals">
            <a:extLst xmlns:a="http://schemas.openxmlformats.org/drawingml/2006/main">
              <a:ext uri="{FF2B5EF4-FFF2-40B4-BE49-F238E27FC236}">
                <a16:creationId xmlns:a16="http://schemas.microsoft.com/office/drawing/2014/main" id="{B391D465-C06D-4D9D-A07D-09FB7B82F75E}"/>
              </a:ext>
            </a:extLst>
          </p:cNvPr>
          <p:cNvSpPr>
            <a:spLocks xmlns:a="http://schemas.openxmlformats.org/drawingml/2006/main" noGrp="1"/>
          </p:cNvSpPr>
          <p:nvPr/>
        </p:nvSpPr>
        <p:spPr>
          <a:xfrm xmlns:a="http://schemas.openxmlformats.org/drawingml/2006/main">
            <a:off x="3238500" y="8001000"/>
            <a:ext cx="1143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b="0">
                <a:solidFill>
                  <a:srgbClr val="000000"/>
                </a:solidFill>
                <a:latin typeface="Arial"/>
                <a:ea typeface="Arial"/>
                <a:cs typeface="Arial"/>
              </a:defRPr>
            </a:pPr>
            <a:r>
              <a:rPr sz="1875" b="0">
                <a:solidFill>
                  <a:srgbClr val="000000"/>
                </a:solidFill>
                <a:latin typeface="Arial"/>
                <a:ea typeface="Arial"/>
                <a:cs typeface="Arial"/>
              </a:rPr>
              <a:t>Compression, denoising, interpretability, task-relevant information</a:t>
            </a:r>
          </a:p>
        </p:txBody>
      </p:sp>
    </p:spTree>
    <p:extLst>
      <p:ext uri="{BB962C8B-B14F-4D97-AF65-F5344CB8AC3E}">
        <p14:creationId xmlns:p14="http://schemas.microsoft.com/office/powerpoint/2010/main" val="141729898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composition-title">
            <a:extLst xmlns:a="http://schemas.openxmlformats.org/drawingml/2006/main">
              <a:ext uri="{FF2B5EF4-FFF2-40B4-BE49-F238E27FC236}">
                <a16:creationId xmlns:a16="http://schemas.microsoft.com/office/drawing/2014/main" id="{C418751C-986E-495A-AB43-96831C0859D7}"/>
              </a:ext>
            </a:extLst>
          </p:cNvPr>
          <p:cNvSpPr>
            <a:spLocks xmlns:a="http://schemas.openxmlformats.org/drawingml/2006/main" noGrp="1"/>
          </p:cNvSpPr>
          <p:nvPr/>
        </p:nvSpPr>
        <p:spPr>
          <a:xfrm xmlns:a="http://schemas.openxmlformats.org/drawingml/2006/main">
            <a:off x="381000" y="238125"/>
            <a:ext cx="1447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3150" b="1">
                <a:solidFill>
                  <a:srgbClr val="000000"/>
                </a:solidFill>
                <a:latin typeface="Arial"/>
                <a:ea typeface="Arial"/>
                <a:cs typeface="Arial"/>
              </a:defRPr>
            </a:pPr>
            <a:r>
              <a:rPr sz="3150" b="1">
                <a:solidFill>
                  <a:srgbClr val="000000"/>
                </a:solidFill>
                <a:latin typeface="Arial"/>
                <a:ea typeface="Arial"/>
                <a:cs typeface="Arial"/>
              </a:rPr>
              <a:t>Composition of representation operators</a:t>
            </a:r>
          </a:p>
        </p:txBody>
      </p:sp>
      <p:sp>
        <p:nvSpPr>
          <p:cNvPr id="2" name="composition-subtitle">
            <a:extLst xmlns:a="http://schemas.openxmlformats.org/drawingml/2006/main">
              <a:ext uri="{FF2B5EF4-FFF2-40B4-BE49-F238E27FC236}">
                <a16:creationId xmlns:a16="http://schemas.microsoft.com/office/drawing/2014/main" id="{67BD868F-3D8B-49D5-AF16-CFE769A277EC}"/>
              </a:ext>
            </a:extLst>
          </p:cNvPr>
          <p:cNvSpPr>
            <a:spLocks xmlns:a="http://schemas.openxmlformats.org/drawingml/2006/main" noGrp="1"/>
          </p:cNvSpPr>
          <p:nvPr/>
        </p:nvSpPr>
        <p:spPr>
          <a:xfrm xmlns:a="http://schemas.openxmlformats.org/drawingml/2006/main">
            <a:off x="381000" y="990600"/>
            <a:ext cx="1447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Examples of connections between representation families</a:t>
            </a:r>
          </a:p>
        </p:txBody>
      </p:sp>
      <p:sp>
        <p:nvSpPr>
          <p:cNvPr id="3" name="paa-sax-heading">
            <a:extLst xmlns:a="http://schemas.openxmlformats.org/drawingml/2006/main">
              <a:ext uri="{FF2B5EF4-FFF2-40B4-BE49-F238E27FC236}">
                <a16:creationId xmlns:a16="http://schemas.microsoft.com/office/drawing/2014/main" id="{F233D40C-748F-476B-ABE1-F29C4ADF05B1}"/>
              </a:ext>
            </a:extLst>
          </p:cNvPr>
          <p:cNvSpPr>
            <a:spLocks xmlns:a="http://schemas.openxmlformats.org/drawingml/2006/main" noGrp="1"/>
          </p:cNvSpPr>
          <p:nvPr/>
        </p:nvSpPr>
        <p:spPr>
          <a:xfrm xmlns:a="http://schemas.openxmlformats.org/drawingml/2006/main">
            <a:off x="381000" y="1619250"/>
            <a:ext cx="1447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Mean-based symbolic representation</a:t>
            </a:r>
          </a:p>
        </p:txBody>
      </p:sp>
      <p:sp>
        <p:nvSpPr>
          <p:cNvPr id="4" name="paa-sax-line-1">
            <a:extLst xmlns:a="http://schemas.openxmlformats.org/drawingml/2006/main">
              <a:ext uri="{FF2B5EF4-FFF2-40B4-BE49-F238E27FC236}">
                <a16:creationId xmlns:a16="http://schemas.microsoft.com/office/drawing/2014/main" id="{5AABB8D7-5F99-463E-A4AA-6CE7189DC96B}"/>
              </a:ext>
            </a:extLst>
          </p:cNvPr>
          <p:cNvSpPr>
            <a:spLocks xmlns:a="http://schemas.openxmlformats.org/drawingml/2006/main" noGrp="1"/>
          </p:cNvSpPr>
          <p:nvPr/>
        </p:nvSpPr>
        <p:spPr>
          <a:xfrm xmlns:a="http://schemas.openxmlformats.org/drawingml/2006/main">
            <a:off x="4095750" y="2552700"/>
            <a:ext cx="12382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5" name="paa-sax-line-2">
            <a:extLst xmlns:a="http://schemas.openxmlformats.org/drawingml/2006/main">
              <a:ext uri="{FF2B5EF4-FFF2-40B4-BE49-F238E27FC236}">
                <a16:creationId xmlns:a16="http://schemas.microsoft.com/office/drawing/2014/main" id="{7A21FAEE-9864-4284-B02C-043FCB3F7BC9}"/>
              </a:ext>
            </a:extLst>
          </p:cNvPr>
          <p:cNvSpPr>
            <a:spLocks xmlns:a="http://schemas.openxmlformats.org/drawingml/2006/main" noGrp="1"/>
          </p:cNvSpPr>
          <p:nvPr/>
        </p:nvSpPr>
        <p:spPr>
          <a:xfrm xmlns:a="http://schemas.openxmlformats.org/drawingml/2006/main">
            <a:off x="9906000" y="2552700"/>
            <a:ext cx="12382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6" name="paa-sax-input">
            <a:extLst xmlns:a="http://schemas.openxmlformats.org/drawingml/2006/main">
              <a:ext uri="{FF2B5EF4-FFF2-40B4-BE49-F238E27FC236}">
                <a16:creationId xmlns:a16="http://schemas.microsoft.com/office/drawing/2014/main" id="{20BCB922-6ADB-4176-9FBE-50717FD2E119}"/>
              </a:ext>
            </a:extLst>
          </p:cNvPr>
          <p:cNvSpPr>
            <a:spLocks xmlns:a="http://schemas.openxmlformats.org/drawingml/2006/main" noGrp="1"/>
          </p:cNvSpPr>
          <p:nvPr/>
        </p:nvSpPr>
        <p:spPr>
          <a:xfrm xmlns:a="http://schemas.openxmlformats.org/drawingml/2006/main">
            <a:off x="666750" y="2000250"/>
            <a:ext cx="3429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7" name="paa-sax-input-text">
            <a:extLst xmlns:a="http://schemas.openxmlformats.org/drawingml/2006/main">
              <a:ext uri="{FF2B5EF4-FFF2-40B4-BE49-F238E27FC236}">
                <a16:creationId xmlns:a16="http://schemas.microsoft.com/office/drawing/2014/main" id="{A0735204-21D7-4D59-B632-C84C6EFCB198}"/>
              </a:ext>
            </a:extLst>
          </p:cNvPr>
          <p:cNvSpPr>
            <a:spLocks xmlns:a="http://schemas.openxmlformats.org/drawingml/2006/main" noGrp="1"/>
          </p:cNvSpPr>
          <p:nvPr/>
        </p:nvSpPr>
        <p:spPr>
          <a:xfrm xmlns:a="http://schemas.openxmlformats.org/drawingml/2006/main">
            <a:off x="809625" y="21431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PAA</a:t>
            </a:r>
          </a:p>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Segment means</a:t>
            </a:r>
          </a:p>
        </p:txBody>
      </p:sp>
      <p:sp>
        <p:nvSpPr>
          <p:cNvPr id="8" name="paa-sax-operator">
            <a:extLst xmlns:a="http://schemas.openxmlformats.org/drawingml/2006/main">
              <a:ext uri="{FF2B5EF4-FFF2-40B4-BE49-F238E27FC236}">
                <a16:creationId xmlns:a16="http://schemas.microsoft.com/office/drawing/2014/main" id="{5BC2D03B-1283-482B-A78A-E0B02E7F91FA}"/>
              </a:ext>
            </a:extLst>
          </p:cNvPr>
          <p:cNvSpPr>
            <a:spLocks xmlns:a="http://schemas.openxmlformats.org/drawingml/2006/main" noGrp="1"/>
          </p:cNvSpPr>
          <p:nvPr/>
        </p:nvSpPr>
        <p:spPr>
          <a:xfrm xmlns:a="http://schemas.openxmlformats.org/drawingml/2006/main">
            <a:off x="5334000" y="2000250"/>
            <a:ext cx="4572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9" name="paa-sax-operator-text">
            <a:extLst xmlns:a="http://schemas.openxmlformats.org/drawingml/2006/main">
              <a:ext uri="{FF2B5EF4-FFF2-40B4-BE49-F238E27FC236}">
                <a16:creationId xmlns:a16="http://schemas.microsoft.com/office/drawing/2014/main" id="{7C727B6E-3202-4504-9A9F-2257E67DF4E3}"/>
              </a:ext>
            </a:extLst>
          </p:cNvPr>
          <p:cNvSpPr>
            <a:spLocks xmlns:a="http://schemas.openxmlformats.org/drawingml/2006/main" noGrp="1"/>
          </p:cNvSpPr>
          <p:nvPr/>
        </p:nvSpPr>
        <p:spPr>
          <a:xfrm xmlns:a="http://schemas.openxmlformats.org/drawingml/2006/main">
            <a:off x="5476875" y="2143125"/>
            <a:ext cx="4286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Quantization</a:t>
            </a:r>
          </a:p>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Symbolization</a:t>
            </a:r>
          </a:p>
        </p:txBody>
      </p:sp>
      <p:sp>
        <p:nvSpPr>
          <p:cNvPr id="10" name="paa-sax-output">
            <a:extLst xmlns:a="http://schemas.openxmlformats.org/drawingml/2006/main">
              <a:ext uri="{FF2B5EF4-FFF2-40B4-BE49-F238E27FC236}">
                <a16:creationId xmlns:a16="http://schemas.microsoft.com/office/drawing/2014/main" id="{0AD13516-F9DF-4C15-916A-4F61B7BD25ED}"/>
              </a:ext>
            </a:extLst>
          </p:cNvPr>
          <p:cNvSpPr>
            <a:spLocks xmlns:a="http://schemas.openxmlformats.org/drawingml/2006/main" noGrp="1"/>
          </p:cNvSpPr>
          <p:nvPr/>
        </p:nvSpPr>
        <p:spPr>
          <a:xfrm xmlns:a="http://schemas.openxmlformats.org/drawingml/2006/main">
            <a:off x="11144250" y="2000250"/>
            <a:ext cx="3429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11" name="paa-sax-output-text">
            <a:extLst xmlns:a="http://schemas.openxmlformats.org/drawingml/2006/main">
              <a:ext uri="{FF2B5EF4-FFF2-40B4-BE49-F238E27FC236}">
                <a16:creationId xmlns:a16="http://schemas.microsoft.com/office/drawing/2014/main" id="{7CFDEEBA-6134-48C5-9475-3300BCE97F35}"/>
              </a:ext>
            </a:extLst>
          </p:cNvPr>
          <p:cNvSpPr>
            <a:spLocks xmlns:a="http://schemas.openxmlformats.org/drawingml/2006/main" noGrp="1"/>
          </p:cNvSpPr>
          <p:nvPr/>
        </p:nvSpPr>
        <p:spPr>
          <a:xfrm xmlns:a="http://schemas.openxmlformats.org/drawingml/2006/main">
            <a:off x="11287125" y="21431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SAX</a:t>
            </a:r>
          </a:p>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Symbolic sequence</a:t>
            </a:r>
          </a:p>
        </p:txBody>
      </p:sp>
      <p:sp>
        <p:nvSpPr>
          <p:cNvPr id="12" name="paa-sax-caption">
            <a:extLst xmlns:a="http://schemas.openxmlformats.org/drawingml/2006/main">
              <a:ext uri="{FF2B5EF4-FFF2-40B4-BE49-F238E27FC236}">
                <a16:creationId xmlns:a16="http://schemas.microsoft.com/office/drawing/2014/main" id="{8CE5E433-BCC3-4F05-8325-C24B1473624E}"/>
              </a:ext>
            </a:extLst>
          </p:cNvPr>
          <p:cNvSpPr>
            <a:spLocks xmlns:a="http://schemas.openxmlformats.org/drawingml/2006/main" noGrp="1"/>
          </p:cNvSpPr>
          <p:nvPr/>
        </p:nvSpPr>
        <p:spPr>
          <a:xfrm xmlns:a="http://schemas.openxmlformats.org/drawingml/2006/main">
            <a:off x="523875" y="3181350"/>
            <a:ext cx="1419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b="0">
                <a:solidFill>
                  <a:srgbClr val="000000"/>
                </a:solidFill>
                <a:latin typeface="Arial"/>
                <a:ea typeface="Arial"/>
                <a:cs typeface="Arial"/>
              </a:defRPr>
            </a:pPr>
            <a:r>
              <a:rPr sz="1875" b="0">
                <a:solidFill>
                  <a:srgbClr val="000000"/>
                </a:solidFill>
                <a:latin typeface="Arial"/>
                <a:ea typeface="Arial"/>
                <a:cs typeface="Arial"/>
              </a:rPr>
              <a:t>SAX composes segmentation, mean aggregation, quantization and symbolization.</a:t>
            </a:r>
          </a:p>
        </p:txBody>
      </p:sp>
      <p:sp>
        <p:nvSpPr>
          <p:cNvPr id="13" name="saa-sax-heading">
            <a:extLst xmlns:a="http://schemas.openxmlformats.org/drawingml/2006/main">
              <a:ext uri="{FF2B5EF4-FFF2-40B4-BE49-F238E27FC236}">
                <a16:creationId xmlns:a16="http://schemas.microsoft.com/office/drawing/2014/main" id="{F46F2E78-B6AA-4E94-8F9E-041FE8312A34}"/>
              </a:ext>
            </a:extLst>
          </p:cNvPr>
          <p:cNvSpPr>
            <a:spLocks xmlns:a="http://schemas.openxmlformats.org/drawingml/2006/main" noGrp="1"/>
          </p:cNvSpPr>
          <p:nvPr/>
        </p:nvSpPr>
        <p:spPr>
          <a:xfrm xmlns:a="http://schemas.openxmlformats.org/drawingml/2006/main">
            <a:off x="381000" y="3562350"/>
            <a:ext cx="1447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Slope-based symbolic representation</a:t>
            </a:r>
          </a:p>
        </p:txBody>
      </p:sp>
      <p:sp>
        <p:nvSpPr>
          <p:cNvPr id="14" name="saa-sax-line-1">
            <a:extLst xmlns:a="http://schemas.openxmlformats.org/drawingml/2006/main">
              <a:ext uri="{FF2B5EF4-FFF2-40B4-BE49-F238E27FC236}">
                <a16:creationId xmlns:a16="http://schemas.microsoft.com/office/drawing/2014/main" id="{29F2E571-B0FA-4C0D-801D-423113D99BBD}"/>
              </a:ext>
            </a:extLst>
          </p:cNvPr>
          <p:cNvSpPr>
            <a:spLocks xmlns:a="http://schemas.openxmlformats.org/drawingml/2006/main" noGrp="1"/>
          </p:cNvSpPr>
          <p:nvPr/>
        </p:nvSpPr>
        <p:spPr>
          <a:xfrm xmlns:a="http://schemas.openxmlformats.org/drawingml/2006/main">
            <a:off x="4095750" y="4495800"/>
            <a:ext cx="12382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15" name="saa-sax-line-2">
            <a:extLst xmlns:a="http://schemas.openxmlformats.org/drawingml/2006/main">
              <a:ext uri="{FF2B5EF4-FFF2-40B4-BE49-F238E27FC236}">
                <a16:creationId xmlns:a16="http://schemas.microsoft.com/office/drawing/2014/main" id="{F3F96F01-E58E-4E12-B6D1-9EECB1AB510D}"/>
              </a:ext>
            </a:extLst>
          </p:cNvPr>
          <p:cNvSpPr>
            <a:spLocks xmlns:a="http://schemas.openxmlformats.org/drawingml/2006/main" noGrp="1"/>
          </p:cNvSpPr>
          <p:nvPr/>
        </p:nvSpPr>
        <p:spPr>
          <a:xfrm xmlns:a="http://schemas.openxmlformats.org/drawingml/2006/main">
            <a:off x="9906000" y="4495800"/>
            <a:ext cx="12382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16" name="saa-sax-input">
            <a:extLst xmlns:a="http://schemas.openxmlformats.org/drawingml/2006/main">
              <a:ext uri="{FF2B5EF4-FFF2-40B4-BE49-F238E27FC236}">
                <a16:creationId xmlns:a16="http://schemas.microsoft.com/office/drawing/2014/main" id="{F5D98DA3-88E5-43D3-A390-61C3EE381392}"/>
              </a:ext>
            </a:extLst>
          </p:cNvPr>
          <p:cNvSpPr>
            <a:spLocks xmlns:a="http://schemas.openxmlformats.org/drawingml/2006/main" noGrp="1"/>
          </p:cNvSpPr>
          <p:nvPr/>
        </p:nvSpPr>
        <p:spPr>
          <a:xfrm xmlns:a="http://schemas.openxmlformats.org/drawingml/2006/main">
            <a:off x="666750" y="3943350"/>
            <a:ext cx="3429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17" name="saa-sax-input-text">
            <a:extLst xmlns:a="http://schemas.openxmlformats.org/drawingml/2006/main">
              <a:ext uri="{FF2B5EF4-FFF2-40B4-BE49-F238E27FC236}">
                <a16:creationId xmlns:a16="http://schemas.microsoft.com/office/drawing/2014/main" id="{1C815770-9079-4B0D-BBF6-B150C7157A13}"/>
              </a:ext>
            </a:extLst>
          </p:cNvPr>
          <p:cNvSpPr>
            <a:spLocks xmlns:a="http://schemas.openxmlformats.org/drawingml/2006/main" noGrp="1"/>
          </p:cNvSpPr>
          <p:nvPr/>
        </p:nvSpPr>
        <p:spPr>
          <a:xfrm xmlns:a="http://schemas.openxmlformats.org/drawingml/2006/main">
            <a:off x="809625" y="40862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SAA</a:t>
            </a:r>
          </a:p>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Segment slopes</a:t>
            </a:r>
          </a:p>
        </p:txBody>
      </p:sp>
      <p:sp>
        <p:nvSpPr>
          <p:cNvPr id="18" name="saa-sax-operator">
            <a:extLst xmlns:a="http://schemas.openxmlformats.org/drawingml/2006/main">
              <a:ext uri="{FF2B5EF4-FFF2-40B4-BE49-F238E27FC236}">
                <a16:creationId xmlns:a16="http://schemas.microsoft.com/office/drawing/2014/main" id="{4104FE2B-9BA2-45BD-BC88-99ED567AC0D7}"/>
              </a:ext>
            </a:extLst>
          </p:cNvPr>
          <p:cNvSpPr>
            <a:spLocks xmlns:a="http://schemas.openxmlformats.org/drawingml/2006/main" noGrp="1"/>
          </p:cNvSpPr>
          <p:nvPr/>
        </p:nvSpPr>
        <p:spPr>
          <a:xfrm xmlns:a="http://schemas.openxmlformats.org/drawingml/2006/main">
            <a:off x="5334000" y="3943350"/>
            <a:ext cx="4572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19" name="saa-sax-operator-text">
            <a:extLst xmlns:a="http://schemas.openxmlformats.org/drawingml/2006/main">
              <a:ext uri="{FF2B5EF4-FFF2-40B4-BE49-F238E27FC236}">
                <a16:creationId xmlns:a16="http://schemas.microsoft.com/office/drawing/2014/main" id="{0CD17AE0-9381-42C8-AC70-36BA953E3865}"/>
              </a:ext>
            </a:extLst>
          </p:cNvPr>
          <p:cNvSpPr>
            <a:spLocks xmlns:a="http://schemas.openxmlformats.org/drawingml/2006/main" noGrp="1"/>
          </p:cNvSpPr>
          <p:nvPr/>
        </p:nvSpPr>
        <p:spPr>
          <a:xfrm xmlns:a="http://schemas.openxmlformats.org/drawingml/2006/main">
            <a:off x="5476875" y="4086225"/>
            <a:ext cx="4286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Quantization</a:t>
            </a:r>
          </a:p>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Symbolization</a:t>
            </a:r>
          </a:p>
        </p:txBody>
      </p:sp>
      <p:sp>
        <p:nvSpPr>
          <p:cNvPr id="20" name="saa-sax-output">
            <a:extLst xmlns:a="http://schemas.openxmlformats.org/drawingml/2006/main">
              <a:ext uri="{FF2B5EF4-FFF2-40B4-BE49-F238E27FC236}">
                <a16:creationId xmlns:a16="http://schemas.microsoft.com/office/drawing/2014/main" id="{74E9FC0A-5BED-4B37-A564-5F23BBA64A96}"/>
              </a:ext>
            </a:extLst>
          </p:cNvPr>
          <p:cNvSpPr>
            <a:spLocks xmlns:a="http://schemas.openxmlformats.org/drawingml/2006/main" noGrp="1"/>
          </p:cNvSpPr>
          <p:nvPr/>
        </p:nvSpPr>
        <p:spPr>
          <a:xfrm xmlns:a="http://schemas.openxmlformats.org/drawingml/2006/main">
            <a:off x="11144250" y="3943350"/>
            <a:ext cx="3429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21" name="saa-sax-output-text">
            <a:extLst xmlns:a="http://schemas.openxmlformats.org/drawingml/2006/main">
              <a:ext uri="{FF2B5EF4-FFF2-40B4-BE49-F238E27FC236}">
                <a16:creationId xmlns:a16="http://schemas.microsoft.com/office/drawing/2014/main" id="{3E362AC9-9CFF-4BC2-A928-B5629611A9F3}"/>
              </a:ext>
            </a:extLst>
          </p:cNvPr>
          <p:cNvSpPr>
            <a:spLocks xmlns:a="http://schemas.openxmlformats.org/drawingml/2006/main" noGrp="1"/>
          </p:cNvSpPr>
          <p:nvPr/>
        </p:nvSpPr>
        <p:spPr>
          <a:xfrm xmlns:a="http://schemas.openxmlformats.org/drawingml/2006/main">
            <a:off x="11287125" y="40862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SAA-SAX</a:t>
            </a:r>
          </a:p>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Symbolic sequence</a:t>
            </a:r>
          </a:p>
        </p:txBody>
      </p:sp>
      <p:sp>
        <p:nvSpPr>
          <p:cNvPr id="22" name="saa-sax-caption">
            <a:extLst xmlns:a="http://schemas.openxmlformats.org/drawingml/2006/main">
              <a:ext uri="{FF2B5EF4-FFF2-40B4-BE49-F238E27FC236}">
                <a16:creationId xmlns:a16="http://schemas.microsoft.com/office/drawing/2014/main" id="{4C204789-43E1-48BD-BDBA-7F238A067618}"/>
              </a:ext>
            </a:extLst>
          </p:cNvPr>
          <p:cNvSpPr>
            <a:spLocks xmlns:a="http://schemas.openxmlformats.org/drawingml/2006/main" noGrp="1"/>
          </p:cNvSpPr>
          <p:nvPr/>
        </p:nvSpPr>
        <p:spPr>
          <a:xfrm xmlns:a="http://schemas.openxmlformats.org/drawingml/2006/main">
            <a:off x="523875" y="5124450"/>
            <a:ext cx="1419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b="0">
                <a:solidFill>
                  <a:srgbClr val="000000"/>
                </a:solidFill>
                <a:latin typeface="Arial"/>
                <a:ea typeface="Arial"/>
                <a:cs typeface="Arial"/>
              </a:defRPr>
            </a:pPr>
            <a:r>
              <a:rPr sz="1875" b="0">
                <a:solidFill>
                  <a:srgbClr val="000000"/>
                </a:solidFill>
                <a:latin typeface="Arial"/>
                <a:ea typeface="Arial"/>
                <a:cs typeface="Arial"/>
              </a:rPr>
              <a:t>SAA-SAX uses local slopes to retain trend information before symbolic encoding.</a:t>
            </a:r>
          </a:p>
        </p:txBody>
      </p:sp>
      <p:sp>
        <p:nvSpPr>
          <p:cNvPr id="23" name="rp-rqa-heading">
            <a:extLst xmlns:a="http://schemas.openxmlformats.org/drawingml/2006/main">
              <a:ext uri="{FF2B5EF4-FFF2-40B4-BE49-F238E27FC236}">
                <a16:creationId xmlns:a16="http://schemas.microsoft.com/office/drawing/2014/main" id="{A07DF5E0-805E-46E3-9DC2-64D7788A787D}"/>
              </a:ext>
            </a:extLst>
          </p:cNvPr>
          <p:cNvSpPr>
            <a:spLocks xmlns:a="http://schemas.openxmlformats.org/drawingml/2006/main" noGrp="1"/>
          </p:cNvSpPr>
          <p:nvPr/>
        </p:nvSpPr>
        <p:spPr>
          <a:xfrm xmlns:a="http://schemas.openxmlformats.org/drawingml/2006/main">
            <a:off x="381000" y="5505450"/>
            <a:ext cx="1447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Structural representation and dynamical features</a:t>
            </a:r>
          </a:p>
        </p:txBody>
      </p:sp>
      <p:sp>
        <p:nvSpPr>
          <p:cNvPr id="24" name="rp-rqa-line-1">
            <a:extLst xmlns:a="http://schemas.openxmlformats.org/drawingml/2006/main">
              <a:ext uri="{FF2B5EF4-FFF2-40B4-BE49-F238E27FC236}">
                <a16:creationId xmlns:a16="http://schemas.microsoft.com/office/drawing/2014/main" id="{12ED90C1-5478-4D01-9C41-F5ACB011B326}"/>
              </a:ext>
            </a:extLst>
          </p:cNvPr>
          <p:cNvSpPr>
            <a:spLocks xmlns:a="http://schemas.openxmlformats.org/drawingml/2006/main" noGrp="1"/>
          </p:cNvSpPr>
          <p:nvPr/>
        </p:nvSpPr>
        <p:spPr>
          <a:xfrm xmlns:a="http://schemas.openxmlformats.org/drawingml/2006/main">
            <a:off x="4095750" y="6438900"/>
            <a:ext cx="12382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25" name="rp-rqa-line-2">
            <a:extLst xmlns:a="http://schemas.openxmlformats.org/drawingml/2006/main">
              <a:ext uri="{FF2B5EF4-FFF2-40B4-BE49-F238E27FC236}">
                <a16:creationId xmlns:a16="http://schemas.microsoft.com/office/drawing/2014/main" id="{7F2E9366-F831-48CC-AEAC-CA9516A85838}"/>
              </a:ext>
            </a:extLst>
          </p:cNvPr>
          <p:cNvSpPr>
            <a:spLocks xmlns:a="http://schemas.openxmlformats.org/drawingml/2006/main" noGrp="1"/>
          </p:cNvSpPr>
          <p:nvPr/>
        </p:nvSpPr>
        <p:spPr>
          <a:xfrm xmlns:a="http://schemas.openxmlformats.org/drawingml/2006/main">
            <a:off x="9906000" y="6438900"/>
            <a:ext cx="1238250" cy="0"/>
          </a:xfrm>
          <a:prstGeom xmlns:a="http://schemas.openxmlformats.org/drawingml/2006/main" prst="line">
            <a:avLst/>
          </a:prstGeom>
          <a:noFill xmlns:a="http://schemas.openxmlformats.org/drawingml/2006/main"/>
          <a:ln xmlns:a="http://schemas.openxmlformats.org/drawingml/2006/main" w="17145">
            <a:solidFill>
              <a:srgbClr val="000000"/>
            </a:solidFill>
            <a:prstDash val="solid"/>
          </a:ln>
        </p:spPr>
      </p:sp>
      <p:sp>
        <p:nvSpPr>
          <p:cNvPr id="26" name="rp-rqa-input">
            <a:extLst xmlns:a="http://schemas.openxmlformats.org/drawingml/2006/main">
              <a:ext uri="{FF2B5EF4-FFF2-40B4-BE49-F238E27FC236}">
                <a16:creationId xmlns:a16="http://schemas.microsoft.com/office/drawing/2014/main" id="{24986991-4213-4088-ADF3-572C550ABAFB}"/>
              </a:ext>
            </a:extLst>
          </p:cNvPr>
          <p:cNvSpPr>
            <a:spLocks xmlns:a="http://schemas.openxmlformats.org/drawingml/2006/main" noGrp="1"/>
          </p:cNvSpPr>
          <p:nvPr/>
        </p:nvSpPr>
        <p:spPr>
          <a:xfrm xmlns:a="http://schemas.openxmlformats.org/drawingml/2006/main">
            <a:off x="666750" y="5886450"/>
            <a:ext cx="3429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27" name="rp-rqa-input-text">
            <a:extLst xmlns:a="http://schemas.openxmlformats.org/drawingml/2006/main">
              <a:ext uri="{FF2B5EF4-FFF2-40B4-BE49-F238E27FC236}">
                <a16:creationId xmlns:a16="http://schemas.microsoft.com/office/drawing/2014/main" id="{7FA13EE3-46C7-4A0E-964D-61482CCA1B8D}"/>
              </a:ext>
            </a:extLst>
          </p:cNvPr>
          <p:cNvSpPr>
            <a:spLocks xmlns:a="http://schemas.openxmlformats.org/drawingml/2006/main" noGrp="1"/>
          </p:cNvSpPr>
          <p:nvPr/>
        </p:nvSpPr>
        <p:spPr>
          <a:xfrm xmlns:a="http://schemas.openxmlformats.org/drawingml/2006/main">
            <a:off x="809625" y="60293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Recurrence plot</a:t>
            </a:r>
          </a:p>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Matrix representation</a:t>
            </a:r>
          </a:p>
        </p:txBody>
      </p:sp>
      <p:sp>
        <p:nvSpPr>
          <p:cNvPr id="28" name="rp-rqa-operator">
            <a:extLst xmlns:a="http://schemas.openxmlformats.org/drawingml/2006/main">
              <a:ext uri="{FF2B5EF4-FFF2-40B4-BE49-F238E27FC236}">
                <a16:creationId xmlns:a16="http://schemas.microsoft.com/office/drawing/2014/main" id="{06A03BA5-8973-4E8B-8726-7CA271E01177}"/>
              </a:ext>
            </a:extLst>
          </p:cNvPr>
          <p:cNvSpPr>
            <a:spLocks xmlns:a="http://schemas.openxmlformats.org/drawingml/2006/main" noGrp="1"/>
          </p:cNvSpPr>
          <p:nvPr/>
        </p:nvSpPr>
        <p:spPr>
          <a:xfrm xmlns:a="http://schemas.openxmlformats.org/drawingml/2006/main">
            <a:off x="5334000" y="5886450"/>
            <a:ext cx="4572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29" name="rp-rqa-operator-text">
            <a:extLst xmlns:a="http://schemas.openxmlformats.org/drawingml/2006/main">
              <a:ext uri="{FF2B5EF4-FFF2-40B4-BE49-F238E27FC236}">
                <a16:creationId xmlns:a16="http://schemas.microsoft.com/office/drawing/2014/main" id="{AB24C97E-A249-41F0-BEAA-01D8B942519E}"/>
              </a:ext>
            </a:extLst>
          </p:cNvPr>
          <p:cNvSpPr>
            <a:spLocks xmlns:a="http://schemas.openxmlformats.org/drawingml/2006/main" noGrp="1"/>
          </p:cNvSpPr>
          <p:nvPr/>
        </p:nvSpPr>
        <p:spPr>
          <a:xfrm xmlns:a="http://schemas.openxmlformats.org/drawingml/2006/main">
            <a:off x="5476875" y="6029325"/>
            <a:ext cx="4286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0">
                <a:solidFill>
                  <a:srgbClr val="000000"/>
                </a:solidFill>
                <a:latin typeface="Arial"/>
                <a:ea typeface="Arial"/>
                <a:cs typeface="Arial"/>
              </a:defRPr>
            </a:pPr>
            <a:r>
              <a:rPr sz="2175" b="0">
                <a:solidFill>
                  <a:srgbClr val="000000"/>
                </a:solidFill>
                <a:latin typeface="Arial"/>
                <a:ea typeface="Arial"/>
                <a:cs typeface="Arial"/>
              </a:rPr>
              <a:t>Recurrence statistics</a:t>
            </a:r>
          </a:p>
        </p:txBody>
      </p:sp>
      <p:sp>
        <p:nvSpPr>
          <p:cNvPr id="30" name="rp-rqa-output">
            <a:extLst xmlns:a="http://schemas.openxmlformats.org/drawingml/2006/main">
              <a:ext uri="{FF2B5EF4-FFF2-40B4-BE49-F238E27FC236}">
                <a16:creationId xmlns:a16="http://schemas.microsoft.com/office/drawing/2014/main" id="{906965BC-CC7F-4D06-8770-837109032811}"/>
              </a:ext>
            </a:extLst>
          </p:cNvPr>
          <p:cNvSpPr>
            <a:spLocks xmlns:a="http://schemas.openxmlformats.org/drawingml/2006/main" noGrp="1"/>
          </p:cNvSpPr>
          <p:nvPr/>
        </p:nvSpPr>
        <p:spPr>
          <a:xfrm xmlns:a="http://schemas.openxmlformats.org/drawingml/2006/main">
            <a:off x="11144250" y="5886450"/>
            <a:ext cx="3429000" cy="1104900"/>
          </a:xfrm>
          <a:prstGeom xmlns:a="http://schemas.openxmlformats.org/drawingml/2006/main" prst="rect">
            <a:avLst/>
          </a:prstGeom>
          <a:solidFill xmlns:a="http://schemas.openxmlformats.org/drawingml/2006/main">
            <a:srgbClr val="FFFFFF"/>
          </a:solidFill>
          <a:ln xmlns:a="http://schemas.openxmlformats.org/drawingml/2006/main" w="17145">
            <a:solidFill>
              <a:srgbClr val="000000"/>
            </a:solidFill>
            <a:prstDash val="solid"/>
          </a:ln>
        </p:spPr>
      </p:sp>
      <p:sp>
        <p:nvSpPr>
          <p:cNvPr id="31" name="rp-rqa-output-text">
            <a:extLst xmlns:a="http://schemas.openxmlformats.org/drawingml/2006/main">
              <a:ext uri="{FF2B5EF4-FFF2-40B4-BE49-F238E27FC236}">
                <a16:creationId xmlns:a16="http://schemas.microsoft.com/office/drawing/2014/main" id="{86B948DF-CD64-447E-97E8-7651784300D2}"/>
              </a:ext>
            </a:extLst>
          </p:cNvPr>
          <p:cNvSpPr>
            <a:spLocks xmlns:a="http://schemas.openxmlformats.org/drawingml/2006/main" noGrp="1"/>
          </p:cNvSpPr>
          <p:nvPr/>
        </p:nvSpPr>
        <p:spPr>
          <a:xfrm xmlns:a="http://schemas.openxmlformats.org/drawingml/2006/main">
            <a:off x="11287125" y="60293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RQA</a:t>
            </a:r>
          </a:p>
          <a:p xmlns:a="http://schemas.openxmlformats.org/drawingml/2006/main">
            <a:pPr algn="ctr">
              <a:defRPr sz="2175" b="1">
                <a:solidFill>
                  <a:srgbClr val="000000"/>
                </a:solidFill>
                <a:latin typeface="Arial"/>
                <a:ea typeface="Arial"/>
                <a:cs typeface="Arial"/>
              </a:defRPr>
            </a:pPr>
            <a:r>
              <a:rPr sz="2175" b="1">
                <a:solidFill>
                  <a:srgbClr val="000000"/>
                </a:solidFill>
                <a:latin typeface="Arial"/>
                <a:ea typeface="Arial"/>
                <a:cs typeface="Arial"/>
              </a:rPr>
              <a:t>Numerical features</a:t>
            </a:r>
          </a:p>
        </p:txBody>
      </p:sp>
      <p:sp>
        <p:nvSpPr>
          <p:cNvPr id="32" name="rp-rqa-caption">
            <a:extLst xmlns:a="http://schemas.openxmlformats.org/drawingml/2006/main">
              <a:ext uri="{FF2B5EF4-FFF2-40B4-BE49-F238E27FC236}">
                <a16:creationId xmlns:a16="http://schemas.microsoft.com/office/drawing/2014/main" id="{BE780CBD-B9D1-46A1-867E-789DFAAC9059}"/>
              </a:ext>
            </a:extLst>
          </p:cNvPr>
          <p:cNvSpPr>
            <a:spLocks xmlns:a="http://schemas.openxmlformats.org/drawingml/2006/main" noGrp="1"/>
          </p:cNvSpPr>
          <p:nvPr/>
        </p:nvSpPr>
        <p:spPr>
          <a:xfrm xmlns:a="http://schemas.openxmlformats.org/drawingml/2006/main">
            <a:off x="523875" y="7067550"/>
            <a:ext cx="1419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b="0">
                <a:solidFill>
                  <a:srgbClr val="000000"/>
                </a:solidFill>
                <a:latin typeface="Arial"/>
                <a:ea typeface="Arial"/>
                <a:cs typeface="Arial"/>
              </a:defRPr>
            </a:pPr>
            <a:r>
              <a:rPr sz="1875" b="0">
                <a:solidFill>
                  <a:srgbClr val="000000"/>
                </a:solidFill>
                <a:latin typeface="Arial"/>
                <a:ea typeface="Arial"/>
                <a:cs typeface="Arial"/>
              </a:rPr>
              <a:t>RQA summarizes recurrence structure, including recurrence rate and determinism.</a:t>
            </a:r>
          </a:p>
        </p:txBody>
      </p:sp>
      <p:sp>
        <p:nvSpPr>
          <p:cNvPr id="33" name="composition-footer">
            <a:extLst xmlns:a="http://schemas.openxmlformats.org/drawingml/2006/main">
              <a:ext uri="{FF2B5EF4-FFF2-40B4-BE49-F238E27FC236}">
                <a16:creationId xmlns:a16="http://schemas.microsoft.com/office/drawing/2014/main" id="{BDAAD4DB-374D-42A8-9CC2-EC13BAA94974}"/>
              </a:ext>
            </a:extLst>
          </p:cNvPr>
          <p:cNvSpPr>
            <a:spLocks xmlns:a="http://schemas.openxmlformats.org/drawingml/2006/main" noGrp="1"/>
          </p:cNvSpPr>
          <p:nvPr/>
        </p:nvSpPr>
        <p:spPr>
          <a:xfrm xmlns:a="http://schemas.openxmlformats.org/drawingml/2006/main">
            <a:off x="476250" y="7696200"/>
            <a:ext cx="1428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b="0">
                <a:solidFill>
                  <a:srgbClr val="000000"/>
                </a:solidFill>
                <a:latin typeface="Arial"/>
                <a:ea typeface="Arial"/>
                <a:cs typeface="Arial"/>
              </a:defRPr>
            </a:pPr>
            <a:r>
              <a:rPr sz="1875" b="0">
                <a:solidFill>
                  <a:srgbClr val="000000"/>
                </a:solidFill>
                <a:latin typeface="Arial"/>
                <a:ea typeface="Arial"/>
                <a:cs typeface="Arial"/>
              </a:rPr>
              <a:t>Compression depends on the encoding and retained information. Each composition can support several tasks.</a:t>
            </a:r>
          </a:p>
        </p:txBody>
      </p:sp>
    </p:spTree>
    <p:extLst>
      <p:ext uri="{BB962C8B-B14F-4D97-AF65-F5344CB8AC3E}">
        <p14:creationId xmlns:p14="http://schemas.microsoft.com/office/powerpoint/2010/main" val="7708116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2026-10-01T17:54:10.7070000Z</dcterms:created>
  <dcterms:modified xsi:type="dcterms:W3CDTF">2026-10-01T17:54:10.7070000Z</dcterms:modified>
</coreProperties>
</file>