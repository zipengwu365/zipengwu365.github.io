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4f8a3fc2145fa" /><Relationship Type="http://schemas.openxmlformats.org/officeDocument/2006/relationships/extended-properties" Target="/docProps/app.xml" Id="Rf48f560b823e41a9" /><Relationship Type="http://schemas.openxmlformats.org/officeDocument/2006/relationships/officeDocument" Target="/ppt/presentation.xml" Id="R3f3fabde2136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6a188ccc84783"/>
  </p:sldMasterIdLst>
  <p:notesMasterIdLst>
    <p:notesMasterId xmlns:r="http://schemas.openxmlformats.org/officeDocument/2006/relationships" r:id="R2259822d9f9d4409"/>
  </p:notesMasterIdLst>
  <p:sldIdLst>
    <p:sldId xmlns:r="http://schemas.openxmlformats.org/officeDocument/2006/relationships" id="256" r:id="Rb9d13f30442448b9"/>
  </p:sldIdLst>
  <p:sldSz cx="15240000" cy="1162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8a664ccd544b0" /><Relationship Type="http://schemas.openxmlformats.org/officeDocument/2006/relationships/slideMaster" Target="/ppt/slideMasters/slideMaster1.xml" Id="R9796a188ccc84783" /><Relationship Type="http://schemas.openxmlformats.org/officeDocument/2006/relationships/notesMaster" Target="/ppt/notesMasters/notesMaster1.xml" Id="R2259822d9f9d4409" /><Relationship Type="http://schemas.openxmlformats.org/officeDocument/2006/relationships/presProps" Target="/ppt/presProps.xml" Id="R2f7a7ca6eaf64842" /><Relationship Type="http://schemas.openxmlformats.org/officeDocument/2006/relationships/tableStyles" Target="/ppt/tableStyles.xml" Id="R6066befc7c0042d2" /><Relationship Type="http://schemas.openxmlformats.org/officeDocument/2006/relationships/slide" Target="/ppt/slides/slide1.xml" Id="Rb9d13f30442448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23f42e2574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e6a6de37314ff5" /><Relationship Type="http://schemas.openxmlformats.org/officeDocument/2006/relationships/notesMaster" Target="/ppt/notesMasters/notesMaster1.xml" Id="Rab02952313c0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programme map for Zipeng Wu. Three levels: umbrella and thesis basis; research themes; named publications. Each of the seven peer-reviewed papers appears once, plus a published technical report. Generic literature methods are not attributed as authored papers. Research categories are a synthesis of the actual contributions, rather than a mutually exclusive taxonomy. SARAF connects similarity/retrieval with forecasting. iTARGET predicts chronological age from methylation feature vectors and is an adjacent interpretable-regression application, not time-series forecasting. Software is separately labeled. Accepted workshop work is separate from published papers; institutional record says not yet published as of 29 September 2026. Source titles and links: Time-Series Decomposition as a Standalone Task: A Mechanism-Driven Diagnostic Benchmark, ICML 2026, https://proceedings.mlr.press/v306/wu26bh.html ; Stationarity-Aware Retrieval-Augmented Time Series Forecasting, KDD 2026, https://arxiv.org/abs/2606.04135 ; A Novel Dynamically Adjusted Regressor Chain for Taxi Demand Prediction, IJCNN 2020, https://doi.org/10.1109/IJCNN48605.2020.9207160 ; Correlated Online k-Nearest Neighbors Regressor Chain for Online Multi-output Regression, ICONIP 2023, https://link.springer.com/chapter/10.1007/978-981-99-8067-3_3 ; A novel online multi-task learning for COVID-19 multi-output spatio-temporal prediction, Heliyon 2023, https://doi.org/10.1016/j.heliyon.2023.e18771 ; An Interpretable Multi-target Regression Method for Hierarchical Load Forecasting, ICONIP 2022, https://link.springer.com/chapter/10.1007/978-981-99-1648-1_1 ; iTARGET: Interpretable Tailored Age Regression for Grouped Epigenetic Traits, BIBM 2024, https://arxiv.org/abs/2501.02401 ; Non-contact ultrasound testing of batteries, Mathematics in Industry Reports 2025, https://doi.org/10.33774/miir-2025-btsjk ; Semantics-Enhanced Retrieval-Augmented Time Series Forecasting, ICML 2026 Workshop on Forecasting as a New Frontier of Intelligence, accepted/in press, https://research.birmingham.ac.uk/en/publications/semantics-enhanced-retrieval-augmented-time-series-forecasting/ . Software sources: https://systems-mechanobiology.github.io/DeTime/ ; https://github.com/ZipengWu365/TSDecompose-Benchmark ; https://zipengwu365.github.io/EchoTime/ . Foundation: supplied MRes and PhD Time Series Representation theses. PAA, SAX and SAA-SAX in the current direction are literature examples. SAX: https://www.cs.ucr.edu/~stelo/papers/DMKD03.pdf ; SAA-SAX: https://doi.org/10.1109/SSCI50451.2021.9660130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fd345f8c7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c99ea434b4536" /><Relationship Type="http://schemas.openxmlformats.org/officeDocument/2006/relationships/slideLayout" Target="/ppt/slideLayouts/slideLayout1.xml" Id="R74d33588b6f8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33588b6f8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0f6a2146f4e06" /><Relationship Type="http://schemas.openxmlformats.org/officeDocument/2006/relationships/notesSlide" Target="/ppt/notesSlides/notesSlide1.xml" Id="R814901e9601c4d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root">
            <a:extLst xmlns:a="http://schemas.openxmlformats.org/drawingml/2006/main">
              <a:ext uri="{FF2B5EF4-FFF2-40B4-BE49-F238E27FC236}">
                <a16:creationId xmlns:a16="http://schemas.microsoft.com/office/drawing/2014/main" id="{7BCFC339-E5BC-4EDA-95EA-F225406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" name="root-title">
            <a:extLst xmlns:a="http://schemas.openxmlformats.org/drawingml/2006/main">
              <a:ext uri="{FF2B5EF4-FFF2-40B4-BE49-F238E27FC236}">
                <a16:creationId xmlns:a16="http://schemas.microsoft.com/office/drawing/2014/main" id="{81031180-C6B6-4661-AB91-2C592A3E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Representation</a:t>
            </a:r>
          </a:p>
        </p:txBody>
      </p:sp>
      <p:sp>
        <p:nvSpPr>
          <p:cNvPr id="3" name="root-theory">
            <a:extLst xmlns:a="http://schemas.openxmlformats.org/drawingml/2006/main">
              <a:ext uri="{FF2B5EF4-FFF2-40B4-BE49-F238E27FC236}">
                <a16:creationId xmlns:a16="http://schemas.microsoft.com/office/drawing/2014/main" id="{AC891F40-7251-4813-B19C-DB2EA24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 theory (MRes / PhD)</a:t>
            </a:r>
          </a:p>
        </p:txBody>
      </p:sp>
      <p:sp>
        <p:nvSpPr>
          <p:cNvPr id="4" name="root-stem">
            <a:extLst xmlns:a="http://schemas.openxmlformats.org/drawingml/2006/main">
              <a:ext uri="{FF2B5EF4-FFF2-40B4-BE49-F238E27FC236}">
                <a16:creationId xmlns:a16="http://schemas.microsoft.com/office/drawing/2014/main" id="{35FA8459-82A6-4878-BA19-7561E84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" name="root-branch">
            <a:extLst xmlns:a="http://schemas.openxmlformats.org/drawingml/2006/main">
              <a:ext uri="{FF2B5EF4-FFF2-40B4-BE49-F238E27FC236}">
                <a16:creationId xmlns:a16="http://schemas.microsoft.com/office/drawing/2014/main" id="{EA574254-4199-489D-ABDC-D5EF9FE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" name="root-drop-255">
            <a:extLst xmlns:a="http://schemas.openxmlformats.org/drawingml/2006/main">
              <a:ext uri="{FF2B5EF4-FFF2-40B4-BE49-F238E27FC236}">
                <a16:creationId xmlns:a16="http://schemas.microsoft.com/office/drawing/2014/main" id="{91F822F4-69DB-4B80-8921-95427E6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" name="root-drop-720">
            <a:extLst xmlns:a="http://schemas.openxmlformats.org/drawingml/2006/main">
              <a:ext uri="{FF2B5EF4-FFF2-40B4-BE49-F238E27FC236}">
                <a16:creationId xmlns:a16="http://schemas.microsoft.com/office/drawing/2014/main" id="{C83870CC-EF11-4C3F-9569-3F27C1A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" name="root-drop-1265">
            <a:extLst xmlns:a="http://schemas.openxmlformats.org/drawingml/2006/main">
              <a:ext uri="{FF2B5EF4-FFF2-40B4-BE49-F238E27FC236}">
                <a16:creationId xmlns:a16="http://schemas.microsoft.com/office/drawing/2014/main" id="{2A86953B-47BC-4571-AD03-6391B5E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9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5A154D65-2F9D-429B-BDE6-E6F760B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0" name="representation-text">
            <a:extLst xmlns:a="http://schemas.openxmlformats.org/drawingml/2006/main">
              <a:ext uri="{FF2B5EF4-FFF2-40B4-BE49-F238E27FC236}">
                <a16:creationId xmlns:a16="http://schemas.microsoft.com/office/drawing/2014/main" id="{BDCE8A80-3504-427E-AAFC-4A02218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11" name="similarity">
            <a:extLst xmlns:a="http://schemas.openxmlformats.org/drawingml/2006/main">
              <a:ext uri="{FF2B5EF4-FFF2-40B4-BE49-F238E27FC236}">
                <a16:creationId xmlns:a16="http://schemas.microsoft.com/office/drawing/2014/main" id="{B7D7FA3C-116F-46CA-8599-9AC9F18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2" name="similarity-text">
            <a:extLst xmlns:a="http://schemas.openxmlformats.org/drawingml/2006/main">
              <a:ext uri="{FF2B5EF4-FFF2-40B4-BE49-F238E27FC236}">
                <a16:creationId xmlns:a16="http://schemas.microsoft.com/office/drawing/2014/main" id="{9C83FEBF-4FC3-41D5-9ED9-27E3116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3" name="prediction">
            <a:extLst xmlns:a="http://schemas.openxmlformats.org/drawingml/2006/main">
              <a:ext uri="{FF2B5EF4-FFF2-40B4-BE49-F238E27FC236}">
                <a16:creationId xmlns:a16="http://schemas.microsoft.com/office/drawing/2014/main" id="{CA0281F7-5C28-4A89-A37A-D11CDE0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561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" name="prediction-text">
            <a:extLst xmlns:a="http://schemas.openxmlformats.org/drawingml/2006/main">
              <a:ext uri="{FF2B5EF4-FFF2-40B4-BE49-F238E27FC236}">
                <a16:creationId xmlns:a16="http://schemas.microsoft.com/office/drawing/2014/main" id="{3BF1E82F-EF16-4DE2-B19C-F0F3ADF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539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5" name="representation-output-stem">
            <a:extLst xmlns:a="http://schemas.openxmlformats.org/drawingml/2006/main">
              <a:ext uri="{FF2B5EF4-FFF2-40B4-BE49-F238E27FC236}">
                <a16:creationId xmlns:a16="http://schemas.microsoft.com/office/drawing/2014/main" id="{1BFB49C7-AA6F-48F0-8272-CF4E6A7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6" name="representation-output-branch">
            <a:extLst xmlns:a="http://schemas.openxmlformats.org/drawingml/2006/main">
              <a:ext uri="{FF2B5EF4-FFF2-40B4-BE49-F238E27FC236}">
                <a16:creationId xmlns:a16="http://schemas.microsoft.com/office/drawing/2014/main" id="{70095383-D839-4714-9B26-D542DDF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7" name="representation-output-spine">
            <a:extLst xmlns:a="http://schemas.openxmlformats.org/drawingml/2006/main">
              <a:ext uri="{FF2B5EF4-FFF2-40B4-BE49-F238E27FC236}">
                <a16:creationId xmlns:a16="http://schemas.microsoft.com/office/drawing/2014/main" id="{A58244AC-1707-4BD8-9C06-EFD9550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0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8" name="representation-output-415">
            <a:extLst xmlns:a="http://schemas.openxmlformats.org/drawingml/2006/main">
              <a:ext uri="{FF2B5EF4-FFF2-40B4-BE49-F238E27FC236}">
                <a16:creationId xmlns:a16="http://schemas.microsoft.com/office/drawing/2014/main" id="{CF3A85EE-482D-43CD-A66E-7A22498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9" name="representation-output-622">
            <a:extLst xmlns:a="http://schemas.openxmlformats.org/drawingml/2006/main">
              <a:ext uri="{FF2B5EF4-FFF2-40B4-BE49-F238E27FC236}">
                <a16:creationId xmlns:a16="http://schemas.microsoft.com/office/drawing/2014/main" id="{3B9D5701-D1F3-41DD-A2E8-9C8E1FE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0" name="representation-output-822">
            <a:extLst xmlns:a="http://schemas.openxmlformats.org/drawingml/2006/main">
              <a:ext uri="{FF2B5EF4-FFF2-40B4-BE49-F238E27FC236}">
                <a16:creationId xmlns:a16="http://schemas.microsoft.com/office/drawing/2014/main" id="{76C7CD8F-859D-406D-A903-342BFC9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29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1" name="similarity-output-stem">
            <a:extLst xmlns:a="http://schemas.openxmlformats.org/drawingml/2006/main">
              <a:ext uri="{FF2B5EF4-FFF2-40B4-BE49-F238E27FC236}">
                <a16:creationId xmlns:a16="http://schemas.microsoft.com/office/drawing/2014/main" id="{A05ABB4A-CDB4-4CE4-AFA1-524EA23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2" name="similarity-output-branch">
            <a:extLst xmlns:a="http://schemas.openxmlformats.org/drawingml/2006/main">
              <a:ext uri="{FF2B5EF4-FFF2-40B4-BE49-F238E27FC236}">
                <a16:creationId xmlns:a16="http://schemas.microsoft.com/office/drawing/2014/main" id="{17515B60-1AC2-4B2F-B5E8-B3AAE9A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3" name="similarity-output-spine">
            <a:extLst xmlns:a="http://schemas.openxmlformats.org/drawingml/2006/main">
              <a:ext uri="{FF2B5EF4-FFF2-40B4-BE49-F238E27FC236}">
                <a16:creationId xmlns:a16="http://schemas.microsoft.com/office/drawing/2014/main" id="{22295600-0CFB-4444-BD3A-A0188DE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4" name="similarity-output-415">
            <a:extLst xmlns:a="http://schemas.openxmlformats.org/drawingml/2006/main">
              <a:ext uri="{FF2B5EF4-FFF2-40B4-BE49-F238E27FC236}">
                <a16:creationId xmlns:a16="http://schemas.microsoft.com/office/drawing/2014/main" id="{08CE2F8F-EEE3-4157-892F-001D511F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5" name="similarity-output-622">
            <a:extLst xmlns:a="http://schemas.openxmlformats.org/drawingml/2006/main">
              <a:ext uri="{FF2B5EF4-FFF2-40B4-BE49-F238E27FC236}">
                <a16:creationId xmlns:a16="http://schemas.microsoft.com/office/drawing/2014/main" id="{BDE83336-B64E-4CF8-B2B0-C7D173A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6" name="prediction-output-stem">
            <a:extLst xmlns:a="http://schemas.openxmlformats.org/drawingml/2006/main">
              <a:ext uri="{FF2B5EF4-FFF2-40B4-BE49-F238E27FC236}">
                <a16:creationId xmlns:a16="http://schemas.microsoft.com/office/drawing/2014/main" id="{13A4F2EA-F3E6-4827-8B21-5029FFF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7" name="prediction-output-branch">
            <a:extLst xmlns:a="http://schemas.openxmlformats.org/drawingml/2006/main">
              <a:ext uri="{FF2B5EF4-FFF2-40B4-BE49-F238E27FC236}">
                <a16:creationId xmlns:a16="http://schemas.microsoft.com/office/drawing/2014/main" id="{A27C6707-4CE8-4058-82E3-6EB8981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8" name="prediction-output-spine">
            <a:extLst xmlns:a="http://schemas.openxmlformats.org/drawingml/2006/main">
              <a:ext uri="{FF2B5EF4-FFF2-40B4-BE49-F238E27FC236}">
                <a16:creationId xmlns:a16="http://schemas.microsoft.com/office/drawing/2014/main" id="{11A42D6A-9170-4ABF-B29E-505D665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9" name="prediction-output-475">
            <a:extLst xmlns:a="http://schemas.openxmlformats.org/drawingml/2006/main">
              <a:ext uri="{FF2B5EF4-FFF2-40B4-BE49-F238E27FC236}">
                <a16:creationId xmlns:a16="http://schemas.microsoft.com/office/drawing/2014/main" id="{97CC1D8E-FF20-4054-80BA-7818D60A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0" name="prediction-output-785">
            <a:extLst xmlns:a="http://schemas.openxmlformats.org/drawingml/2006/main">
              <a:ext uri="{FF2B5EF4-FFF2-40B4-BE49-F238E27FC236}">
                <a16:creationId xmlns:a16="http://schemas.microsoft.com/office/drawing/2014/main" id="{3051565D-F3CD-4655-9471-018B707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771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1" name="retrieval-prediction-link">
            <a:extLst xmlns:a="http://schemas.openxmlformats.org/drawingml/2006/main">
              <a:ext uri="{FF2B5EF4-FFF2-40B4-BE49-F238E27FC236}">
                <a16:creationId xmlns:a16="http://schemas.microsoft.com/office/drawing/2014/main" id="{C5B6282A-6D24-41F8-9C90-5708462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2" name="decomposition-paper">
            <a:extLst xmlns:a="http://schemas.openxmlformats.org/drawingml/2006/main">
              <a:ext uri="{FF2B5EF4-FFF2-40B4-BE49-F238E27FC236}">
                <a16:creationId xmlns:a16="http://schemas.microsoft.com/office/drawing/2014/main" id="{C3D77EEC-12E3-44D7-8C65-8203606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3" name="decomposition-paper-title">
            <a:extLst xmlns:a="http://schemas.openxmlformats.org/drawingml/2006/main">
              <a:ext uri="{FF2B5EF4-FFF2-40B4-BE49-F238E27FC236}">
                <a16:creationId xmlns:a16="http://schemas.microsoft.com/office/drawing/2014/main" id="{738F4CB5-6513-4D80-8D9A-6133686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34" name="decomposition-paper-detail">
            <a:extLst xmlns:a="http://schemas.openxmlformats.org/drawingml/2006/main">
              <a:ext uri="{FF2B5EF4-FFF2-40B4-BE49-F238E27FC236}">
                <a16:creationId xmlns:a16="http://schemas.microsoft.com/office/drawing/2014/main" id="{89A4480C-C862-487F-A0F1-FD59BBF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recovery and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mechanism-driven evaluation</a:t>
            </a:r>
          </a:p>
        </p:txBody>
      </p:sp>
      <p:sp>
        <p:nvSpPr>
          <p:cNvPr id="35" name="decomposition-paper-venue">
            <a:extLst xmlns:a="http://schemas.openxmlformats.org/drawingml/2006/main">
              <a:ext uri="{FF2B5EF4-FFF2-40B4-BE49-F238E27FC236}">
                <a16:creationId xmlns:a16="http://schemas.microsoft.com/office/drawing/2014/main" id="{80D84F26-3C28-4EC3-AC9B-E986D26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36" name="battery-report">
            <a:extLst xmlns:a="http://schemas.openxmlformats.org/drawingml/2006/main">
              <a:ext uri="{FF2B5EF4-FFF2-40B4-BE49-F238E27FC236}">
                <a16:creationId xmlns:a16="http://schemas.microsoft.com/office/drawing/2014/main" id="{9D0541BB-657D-4FDF-AFDC-142A263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7" name="battery-report-title">
            <a:extLst xmlns:a="http://schemas.openxmlformats.org/drawingml/2006/main">
              <a:ext uri="{FF2B5EF4-FFF2-40B4-BE49-F238E27FC236}">
                <a16:creationId xmlns:a16="http://schemas.microsoft.com/office/drawing/2014/main" id="{C83E104E-2CAE-424E-AC33-05BB307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8671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38" name="battery-report-detail">
            <a:extLst xmlns:a="http://schemas.openxmlformats.org/drawingml/2006/main">
              <a:ext uri="{FF2B5EF4-FFF2-40B4-BE49-F238E27FC236}">
                <a16:creationId xmlns:a16="http://schemas.microsoft.com/office/drawing/2014/main" id="{888CE619-255F-4918-AA07-DFE9013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5494"/>
            <a:ext cx="3867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</p:txBody>
      </p:sp>
      <p:sp>
        <p:nvSpPr>
          <p:cNvPr id="39" name="battery-report-venue">
            <a:extLst xmlns:a="http://schemas.openxmlformats.org/drawingml/2006/main">
              <a:ext uri="{FF2B5EF4-FFF2-40B4-BE49-F238E27FC236}">
                <a16:creationId xmlns:a16="http://schemas.microsoft.com/office/drawing/2014/main" id="{32A5782E-BA6B-463F-9E71-50FE964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13170"/>
            <a:ext cx="38671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MIIR 2025 (technical report)</a:t>
            </a:r>
          </a:p>
        </p:txBody>
      </p:sp>
      <p:sp>
        <p:nvSpPr>
          <p:cNvPr id="40" name="representation-software">
            <a:extLst xmlns:a="http://schemas.openxmlformats.org/drawingml/2006/main">
              <a:ext uri="{FF2B5EF4-FFF2-40B4-BE49-F238E27FC236}">
                <a16:creationId xmlns:a16="http://schemas.microsoft.com/office/drawing/2014/main" id="{2E42C5B2-8769-4287-BE4E-FB1773F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1" name="representation-software-heading">
            <a:extLst xmlns:a="http://schemas.openxmlformats.org/drawingml/2006/main">
              <a:ext uri="{FF2B5EF4-FFF2-40B4-BE49-F238E27FC236}">
                <a16:creationId xmlns:a16="http://schemas.microsoft.com/office/drawing/2014/main" id="{A09D57E0-FFA5-4526-8EC6-E822A8F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580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2" name="representation-software-body">
            <a:extLst xmlns:a="http://schemas.openxmlformats.org/drawingml/2006/main">
              <a:ext uri="{FF2B5EF4-FFF2-40B4-BE49-F238E27FC236}">
                <a16:creationId xmlns:a16="http://schemas.microsoft.com/office/drawing/2014/main" id="{F81F9468-CEC1-4E4D-8293-DE65EAA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39050"/>
            <a:ext cx="386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DeTime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TSDecompose-Benchmark</a:t>
            </a:r>
          </a:p>
        </p:txBody>
      </p:sp>
      <p:sp>
        <p:nvSpPr>
          <p:cNvPr id="43" name="saraf-paper">
            <a:extLst xmlns:a="http://schemas.openxmlformats.org/drawingml/2006/main">
              <a:ext uri="{FF2B5EF4-FFF2-40B4-BE49-F238E27FC236}">
                <a16:creationId xmlns:a16="http://schemas.microsoft.com/office/drawing/2014/main" id="{7DBB8DA2-152A-410F-B592-E0FFC20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4" name="saraf-paper-title">
            <a:extLst xmlns:a="http://schemas.openxmlformats.org/drawingml/2006/main">
              <a:ext uri="{FF2B5EF4-FFF2-40B4-BE49-F238E27FC236}">
                <a16:creationId xmlns:a16="http://schemas.microsoft.com/office/drawing/2014/main" id="{6797D883-C95A-4538-B657-37455F7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45" name="saraf-paper-detail">
            <a:extLst xmlns:a="http://schemas.openxmlformats.org/drawingml/2006/main">
              <a:ext uri="{FF2B5EF4-FFF2-40B4-BE49-F238E27FC236}">
                <a16:creationId xmlns:a16="http://schemas.microsoft.com/office/drawing/2014/main" id="{5E1FED18-893D-489D-8DF6-248F541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Similarity-based retrieval with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selection</a:t>
            </a:r>
          </a:p>
        </p:txBody>
      </p:sp>
      <p:sp>
        <p:nvSpPr>
          <p:cNvPr id="46" name="saraf-paper-venue">
            <a:extLst xmlns:a="http://schemas.openxmlformats.org/drawingml/2006/main">
              <a:ext uri="{FF2B5EF4-FFF2-40B4-BE49-F238E27FC236}">
                <a16:creationId xmlns:a16="http://schemas.microsoft.com/office/drawing/2014/main" id="{178900B7-F520-4CFE-84AE-7CBFDFB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SARAF, KDD 2026</a:t>
            </a:r>
          </a:p>
        </p:txBody>
      </p:sp>
      <p:sp>
        <p:nvSpPr>
          <p:cNvPr id="47" name="similarity-software">
            <a:extLst xmlns:a="http://schemas.openxmlformats.org/drawingml/2006/main">
              <a:ext uri="{FF2B5EF4-FFF2-40B4-BE49-F238E27FC236}">
                <a16:creationId xmlns:a16="http://schemas.microsoft.com/office/drawing/2014/main" id="{3F68F7D8-D97F-49F1-A78F-2A5B714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8" name="similarity-software-heading">
            <a:extLst xmlns:a="http://schemas.openxmlformats.org/drawingml/2006/main">
              <a:ext uri="{FF2B5EF4-FFF2-40B4-BE49-F238E27FC236}">
                <a16:creationId xmlns:a16="http://schemas.microsoft.com/office/drawing/2014/main" id="{47C87421-32C3-4CC8-8A4B-029A4F9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149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9" name="similarity-software-name">
            <a:extLst xmlns:a="http://schemas.openxmlformats.org/drawingml/2006/main">
              <a:ext uri="{FF2B5EF4-FFF2-40B4-BE49-F238E27FC236}">
                <a16:creationId xmlns:a16="http://schemas.microsoft.com/office/drawing/2014/main" id="{8475546D-420D-4D37-8CAA-8426A4C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245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50" name="similarity-software-description">
            <a:extLst xmlns:a="http://schemas.openxmlformats.org/drawingml/2006/main">
              <a:ext uri="{FF2B5EF4-FFF2-40B4-BE49-F238E27FC236}">
                <a16:creationId xmlns:a16="http://schemas.microsoft.com/office/drawing/2014/main" id="{088A8760-D5C2-4B9A-8581-38B40C1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1912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51" name="retrieval-relationship">
            <a:extLst xmlns:a="http://schemas.openxmlformats.org/drawingml/2006/main">
              <a:ext uri="{FF2B5EF4-FFF2-40B4-BE49-F238E27FC236}">
                <a16:creationId xmlns:a16="http://schemas.microsoft.com/office/drawing/2014/main" id="{57DE2660-BC68-4306-B160-49B7702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28662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 connects retrieval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forecasting.</a:t>
            </a:r>
          </a:p>
        </p:txBody>
      </p:sp>
      <p:sp>
        <p:nvSpPr>
          <p:cNvPr id="52" name="dependencies">
            <a:extLst xmlns:a="http://schemas.openxmlformats.org/drawingml/2006/main">
              <a:ext uri="{FF2B5EF4-FFF2-40B4-BE49-F238E27FC236}">
                <a16:creationId xmlns:a16="http://schemas.microsoft.com/office/drawing/2014/main" id="{EF1A906A-17EE-491F-BF9F-9E6CF46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3" name="dependencies-title">
            <a:extLst xmlns:a="http://schemas.openxmlformats.org/drawingml/2006/main">
              <a:ext uri="{FF2B5EF4-FFF2-40B4-BE49-F238E27FC236}">
                <a16:creationId xmlns:a16="http://schemas.microsoft.com/office/drawing/2014/main" id="{5E119E18-D2D6-4401-AD42-7F84427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Dependencies &amp; Online Learning</a:t>
            </a:r>
          </a:p>
        </p:txBody>
      </p:sp>
      <p:sp>
        <p:nvSpPr>
          <p:cNvPr id="54" name="dependencies-header-line">
            <a:extLst xmlns:a="http://schemas.openxmlformats.org/drawingml/2006/main">
              <a:ext uri="{FF2B5EF4-FFF2-40B4-BE49-F238E27FC236}">
                <a16:creationId xmlns:a16="http://schemas.microsoft.com/office/drawing/2014/main" id="{81DD3BF8-91D2-4B73-83FF-E912945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5" name="taxi-title">
            <a:extLst xmlns:a="http://schemas.openxmlformats.org/drawingml/2006/main">
              <a:ext uri="{FF2B5EF4-FFF2-40B4-BE49-F238E27FC236}">
                <a16:creationId xmlns:a16="http://schemas.microsoft.com/office/drawing/2014/main" id="{788D201D-E527-40C0-A080-6A72121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56" name="taxi-detail">
            <a:extLst xmlns:a="http://schemas.openxmlformats.org/drawingml/2006/main">
              <a:ext uri="{FF2B5EF4-FFF2-40B4-BE49-F238E27FC236}">
                <a16:creationId xmlns:a16="http://schemas.microsoft.com/office/drawing/2014/main" id="{CC65FE55-B5ED-4799-9297-6135C07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23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Taxi demand prediction</a:t>
            </a:r>
          </a:p>
        </p:txBody>
      </p:sp>
      <p:sp>
        <p:nvSpPr>
          <p:cNvPr id="57" name="taxi-venue">
            <a:extLst xmlns:a="http://schemas.openxmlformats.org/drawingml/2006/main">
              <a:ext uri="{FF2B5EF4-FFF2-40B4-BE49-F238E27FC236}">
                <a16:creationId xmlns:a16="http://schemas.microsoft.com/office/drawing/2014/main" id="{E745D7D9-F7EE-40BF-8354-5402934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852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IJCNN 2020</a:t>
            </a:r>
          </a:p>
        </p:txBody>
      </p:sp>
      <p:sp>
        <p:nvSpPr>
          <p:cNvPr id="58" name="dependencies-row-line-1">
            <a:extLst xmlns:a="http://schemas.openxmlformats.org/drawingml/2006/main">
              <a:ext uri="{FF2B5EF4-FFF2-40B4-BE49-F238E27FC236}">
                <a16:creationId xmlns:a16="http://schemas.microsoft.com/office/drawing/2014/main" id="{C321ABED-7F09-4E76-A765-E1B47F4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9" name="connrc-title">
            <a:extLst xmlns:a="http://schemas.openxmlformats.org/drawingml/2006/main">
              <a:ext uri="{FF2B5EF4-FFF2-40B4-BE49-F238E27FC236}">
                <a16:creationId xmlns:a16="http://schemas.microsoft.com/office/drawing/2014/main" id="{DD576909-809B-4B1C-9FAD-299CFAA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8150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60" name="connrc-detail">
            <a:extLst xmlns:a="http://schemas.openxmlformats.org/drawingml/2006/main">
              <a:ext uri="{FF2B5EF4-FFF2-40B4-BE49-F238E27FC236}">
                <a16:creationId xmlns:a16="http://schemas.microsoft.com/office/drawing/2014/main" id="{57C2B4F3-E72F-4278-B91A-90E52A1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5963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multi-output regression</a:t>
            </a:r>
          </a:p>
        </p:txBody>
      </p:sp>
      <p:sp>
        <p:nvSpPr>
          <p:cNvPr id="61" name="connrc-venue">
            <a:extLst xmlns:a="http://schemas.openxmlformats.org/drawingml/2006/main">
              <a:ext uri="{FF2B5EF4-FFF2-40B4-BE49-F238E27FC236}">
                <a16:creationId xmlns:a16="http://schemas.microsoft.com/office/drawing/2014/main" id="{54DAE9CA-DECC-45EC-A12F-CA2B0CA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4252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2023</a:t>
            </a:r>
          </a:p>
        </p:txBody>
      </p:sp>
      <p:sp>
        <p:nvSpPr>
          <p:cNvPr id="62" name="dependencies-row-line-2">
            <a:extLst xmlns:a="http://schemas.openxmlformats.org/drawingml/2006/main">
              <a:ext uri="{FF2B5EF4-FFF2-40B4-BE49-F238E27FC236}">
                <a16:creationId xmlns:a16="http://schemas.microsoft.com/office/drawing/2014/main" id="{ECD5CD29-2104-49A3-A4DC-F9BCDB0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3" name="covid-title">
            <a:extLst xmlns:a="http://schemas.openxmlformats.org/drawingml/2006/main">
              <a:ext uri="{FF2B5EF4-FFF2-40B4-BE49-F238E27FC236}">
                <a16:creationId xmlns:a16="http://schemas.microsoft.com/office/drawing/2014/main" id="{57FC9409-9D43-4111-9DBC-A5A062E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64" name="covid-detail">
            <a:extLst xmlns:a="http://schemas.openxmlformats.org/drawingml/2006/main">
              <a:ext uri="{FF2B5EF4-FFF2-40B4-BE49-F238E27FC236}">
                <a16:creationId xmlns:a16="http://schemas.microsoft.com/office/drawing/2014/main" id="{294E198A-4590-4B48-8C65-05CAF9A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168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COVID-19 spatiotemporal prediction</a:t>
            </a:r>
          </a:p>
        </p:txBody>
      </p:sp>
      <p:sp>
        <p:nvSpPr>
          <p:cNvPr id="65" name="covid-venue">
            <a:extLst xmlns:a="http://schemas.openxmlformats.org/drawingml/2006/main">
              <a:ext uri="{FF2B5EF4-FFF2-40B4-BE49-F238E27FC236}">
                <a16:creationId xmlns:a16="http://schemas.microsoft.com/office/drawing/2014/main" id="{A0D36C79-7056-4577-B1C1-ACF9B66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997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Heliyon 2023</a:t>
            </a:r>
          </a:p>
        </p:txBody>
      </p:sp>
      <p:sp>
        <p:nvSpPr>
          <p:cNvPr id="66" name="interpretability">
            <a:extLst xmlns:a="http://schemas.openxmlformats.org/drawingml/2006/main">
              <a:ext uri="{FF2B5EF4-FFF2-40B4-BE49-F238E27FC236}">
                <a16:creationId xmlns:a16="http://schemas.microsoft.com/office/drawing/2014/main" id="{8A3C6A7C-5AED-4078-B8BF-272EEAC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29375"/>
            <a:ext cx="561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7" name="interpretability-title">
            <a:extLst xmlns:a="http://schemas.openxmlformats.org/drawingml/2006/main">
              <a:ext uri="{FF2B5EF4-FFF2-40B4-BE49-F238E27FC236}">
                <a16:creationId xmlns:a16="http://schemas.microsoft.com/office/drawing/2014/main" id="{C0BF537D-89A5-48E5-B71F-3366220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96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Prediction</a:t>
            </a:r>
          </a:p>
        </p:txBody>
      </p:sp>
      <p:sp>
        <p:nvSpPr>
          <p:cNvPr id="68" name="interpretability-header-line">
            <a:extLst xmlns:a="http://schemas.openxmlformats.org/drawingml/2006/main">
              <a:ext uri="{FF2B5EF4-FFF2-40B4-BE49-F238E27FC236}">
                <a16:creationId xmlns:a16="http://schemas.microsoft.com/office/drawing/2014/main" id="{AF3C6A97-7B58-49C3-9F95-2DD6270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905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9" name="load-title">
            <a:extLst xmlns:a="http://schemas.openxmlformats.org/drawingml/2006/main">
              <a:ext uri="{FF2B5EF4-FFF2-40B4-BE49-F238E27FC236}">
                <a16:creationId xmlns:a16="http://schemas.microsoft.com/office/drawing/2014/main" id="{EB3985F4-C573-44AC-A7C6-07A0E47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0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70" name="load-detail">
            <a:extLst xmlns:a="http://schemas.openxmlformats.org/drawingml/2006/main">
              <a:ext uri="{FF2B5EF4-FFF2-40B4-BE49-F238E27FC236}">
                <a16:creationId xmlns:a16="http://schemas.microsoft.com/office/drawing/2014/main" id="{FB4D4128-6CE3-4EF4-ABB2-21846CB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13283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multi-target regression</a:t>
            </a:r>
          </a:p>
        </p:txBody>
      </p:sp>
      <p:sp>
        <p:nvSpPr>
          <p:cNvPr id="71" name="load-venue">
            <a:extLst xmlns:a="http://schemas.openxmlformats.org/drawingml/2006/main">
              <a:ext uri="{FF2B5EF4-FFF2-40B4-BE49-F238E27FC236}">
                <a16:creationId xmlns:a16="http://schemas.microsoft.com/office/drawing/2014/main" id="{248D3E1C-E96E-410F-A31C-017A17E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80459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2022</a:t>
            </a:r>
          </a:p>
        </p:txBody>
      </p:sp>
      <p:sp>
        <p:nvSpPr>
          <p:cNvPr id="72" name="interpretability-row-line-1">
            <a:extLst xmlns:a="http://schemas.openxmlformats.org/drawingml/2006/main">
              <a:ext uri="{FF2B5EF4-FFF2-40B4-BE49-F238E27FC236}">
                <a16:creationId xmlns:a16="http://schemas.microsoft.com/office/drawing/2014/main" id="{646FC430-9970-40A0-8D1E-4202BF2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7152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3" name="itarget-title">
            <a:extLst xmlns:a="http://schemas.openxmlformats.org/drawingml/2006/main">
              <a:ext uri="{FF2B5EF4-FFF2-40B4-BE49-F238E27FC236}">
                <a16:creationId xmlns:a16="http://schemas.microsoft.com/office/drawing/2014/main" id="{D17E032A-1964-4BE7-A8E5-0BABCA7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762875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74" name="itarget-detail">
            <a:extLst xmlns:a="http://schemas.openxmlformats.org/drawingml/2006/main">
              <a:ext uri="{FF2B5EF4-FFF2-40B4-BE49-F238E27FC236}">
                <a16:creationId xmlns:a16="http://schemas.microsoft.com/office/drawing/2014/main" id="{5B083B41-6AE7-43D3-AB2D-6A3D7AB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022908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epigenetic age regression</a:t>
            </a:r>
          </a:p>
        </p:txBody>
      </p:sp>
      <p:sp>
        <p:nvSpPr>
          <p:cNvPr id="75" name="itarget-venue">
            <a:extLst xmlns:a="http://schemas.openxmlformats.org/drawingml/2006/main">
              <a:ext uri="{FF2B5EF4-FFF2-40B4-BE49-F238E27FC236}">
                <a16:creationId xmlns:a16="http://schemas.microsoft.com/office/drawing/2014/main" id="{C009103B-869D-4C31-AC6E-0F161CD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290084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BIBM 2024</a:t>
            </a:r>
          </a:p>
        </p:txBody>
      </p:sp>
      <p:sp>
        <p:nvSpPr>
          <p:cNvPr id="76" name="current-heading">
            <a:extLst xmlns:a="http://schemas.openxmlformats.org/drawingml/2006/main">
              <a:ext uri="{FF2B5EF4-FFF2-40B4-BE49-F238E27FC236}">
                <a16:creationId xmlns:a16="http://schemas.microsoft.com/office/drawing/2014/main" id="{8A93AAB5-FD2A-4A99-A6B2-CDC5081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10625"/>
            <a:ext cx="1447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Directions and Accepted Work</a:t>
            </a:r>
          </a:p>
        </p:txBody>
      </p:sp>
      <p:sp>
        <p:nvSpPr>
          <p:cNvPr id="77" name="current-representation">
            <a:extLst xmlns:a="http://schemas.openxmlformats.org/drawingml/2006/main">
              <a:ext uri="{FF2B5EF4-FFF2-40B4-BE49-F238E27FC236}">
                <a16:creationId xmlns:a16="http://schemas.microsoft.com/office/drawing/2014/main" id="{1618C9E0-4837-455F-B421-C4B9B97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8" name="current-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6DEAB88A-FE45-471D-956B-718F179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154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79" name="current-representation-body">
            <a:extLst xmlns:a="http://schemas.openxmlformats.org/drawingml/2006/main">
              <a:ext uri="{FF2B5EF4-FFF2-40B4-BE49-F238E27FC236}">
                <a16:creationId xmlns:a16="http://schemas.microsoft.com/office/drawing/2014/main" id="{C5F11720-0D30-48DC-9824-BBC77AF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tokenization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and world models</a:t>
            </a:r>
          </a:p>
        </p:txBody>
      </p:sp>
      <p:sp>
        <p:nvSpPr>
          <p:cNvPr id="80" name="current-representation-methods">
            <a:extLst xmlns:a="http://schemas.openxmlformats.org/drawingml/2006/main">
              <a:ext uri="{FF2B5EF4-FFF2-40B4-BE49-F238E27FC236}">
                <a16:creationId xmlns:a16="http://schemas.microsoft.com/office/drawing/2014/main" id="{B7BB58E4-36EA-4579-B161-396858E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3346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Literature: PAA, SAX, SAA-SAX</a:t>
            </a:r>
          </a:p>
        </p:txBody>
      </p:sp>
      <p:sp>
        <p:nvSpPr>
          <p:cNvPr id="81" name="current-retrieval">
            <a:extLst xmlns:a="http://schemas.openxmlformats.org/drawingml/2006/main">
              <a:ext uri="{FF2B5EF4-FFF2-40B4-BE49-F238E27FC236}">
                <a16:creationId xmlns:a16="http://schemas.microsoft.com/office/drawing/2014/main" id="{351FBFF9-31BD-4243-9E38-691CD4D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2" name="current-retrieval-title">
            <a:extLst xmlns:a="http://schemas.openxmlformats.org/drawingml/2006/main">
              <a:ext uri="{FF2B5EF4-FFF2-40B4-BE49-F238E27FC236}">
                <a16:creationId xmlns:a16="http://schemas.microsoft.com/office/drawing/2014/main" id="{2BAFC59B-5359-4C89-A811-6A14C83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9829800"/>
            <a:ext cx="3867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83" name="current-retrieval-status">
            <a:extLst xmlns:a="http://schemas.openxmlformats.org/drawingml/2006/main">
              <a:ext uri="{FF2B5EF4-FFF2-40B4-BE49-F238E27FC236}">
                <a16:creationId xmlns:a16="http://schemas.microsoft.com/office/drawing/2014/main" id="{13F665DF-982B-4171-AA31-5D14A833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04965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 workshop (accepted)</a:t>
            </a:r>
          </a:p>
        </p:txBody>
      </p:sp>
      <p:sp>
        <p:nvSpPr>
          <p:cNvPr id="84" name="current-classification">
            <a:extLst xmlns:a="http://schemas.openxmlformats.org/drawingml/2006/main">
              <a:ext uri="{FF2B5EF4-FFF2-40B4-BE49-F238E27FC236}">
                <a16:creationId xmlns:a16="http://schemas.microsoft.com/office/drawing/2014/main" id="{1872BAD9-452B-46CA-AA04-393921E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239250"/>
            <a:ext cx="5619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5" name="current-classification-title">
            <a:extLst xmlns:a="http://schemas.openxmlformats.org/drawingml/2006/main">
              <a:ext uri="{FF2B5EF4-FFF2-40B4-BE49-F238E27FC236}">
                <a16:creationId xmlns:a16="http://schemas.microsoft.com/office/drawing/2014/main" id="{66F8A8FE-7085-44E9-A9A4-0D90CAE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953625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86" name="current-classification-body">
            <a:extLst xmlns:a="http://schemas.openxmlformats.org/drawingml/2006/main">
              <a:ext uri="{FF2B5EF4-FFF2-40B4-BE49-F238E27FC236}">
                <a16:creationId xmlns:a16="http://schemas.microsoft.com/office/drawing/2014/main" id="{B97A05E2-5C6F-4BBC-98DA-0B807F0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29875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  <p:sp>
        <p:nvSpPr>
          <p:cNvPr id="88" name="tomc-memory-title">
            <a:extLst xmlns:a="http://schemas.openxmlformats.org/drawingml/2006/main">
              <a:ext uri="{FF2B5EF4-FFF2-40B4-BE49-F238E27FC236}">
                <a16:creationId xmlns:a16="http://schemas.microsoft.com/office/drawing/2014/main" id="{5375DE08-C386-4D33-985C-9A4A568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2990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89" name="tomc-memory-description">
            <a:extLst xmlns:a="http://schemas.openxmlformats.org/drawingml/2006/main">
              <a:ext uri="{FF2B5EF4-FFF2-40B4-BE49-F238E27FC236}">
                <a16:creationId xmlns:a16="http://schemas.microsoft.com/office/drawing/2014/main" id="{FAE6DE40-C20A-4321-B3F5-AF3567C1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63275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compression &amp; task memory</a:t>
            </a:r>
          </a:p>
        </p:txBody>
      </p:sp>
      <p:sp>
        <p:nvSpPr>
          <p:cNvPr id="90" name="tomc-memory-role">
            <a:extLst xmlns:a="http://schemas.openxmlformats.org/drawingml/2006/main">
              <a:ext uri="{FF2B5EF4-FFF2-40B4-BE49-F238E27FC236}">
                <a16:creationId xmlns:a16="http://schemas.microsoft.com/office/drawing/2014/main" id="{B415F8E6-2F7E-46FD-8D0A-D6BBE48E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299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</p:spTree>
    <p:extLst>
      <p:ext uri="{BB962C8B-B14F-4D97-AF65-F5344CB8AC3E}">
        <p14:creationId xmlns:p14="http://schemas.microsoft.com/office/powerpoint/2010/main" val="1165611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2026-10-15T12:08:20.1470000Z</dcterms:created>
  <dcterms:modified xsi:type="dcterms:W3CDTF">2026-10-15T12:08:20.1470000Z</dcterms:modified>
</coreProperties>
</file>