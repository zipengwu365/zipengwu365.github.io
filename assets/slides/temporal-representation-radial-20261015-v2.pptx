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4f59ddf954f3f" /><Relationship Type="http://schemas.openxmlformats.org/officeDocument/2006/relationships/extended-properties" Target="/docProps/app.xml" Id="R040dc7dd93004e93" /><Relationship Type="http://schemas.openxmlformats.org/officeDocument/2006/relationships/officeDocument" Target="/ppt/presentation.xml" Id="R4722c8bb96c8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959404a7042cd"/>
  </p:sldMasterIdLst>
  <p:notesMasterIdLst>
    <p:notesMasterId xmlns:r="http://schemas.openxmlformats.org/officeDocument/2006/relationships" r:id="R04ca0bae8dae4702"/>
  </p:notesMasterIdLst>
  <p:sldIdLst>
    <p:sldId xmlns:r="http://schemas.openxmlformats.org/officeDocument/2006/relationships" id="256" r:id="R7777a4f98d10425e"/>
  </p:sldIdLst>
  <p:sldSz cx="17145000" cy="1238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6a5072a2a43f4" /><Relationship Type="http://schemas.openxmlformats.org/officeDocument/2006/relationships/slideMaster" Target="/ppt/slideMasters/slideMaster1.xml" Id="R471959404a7042cd" /><Relationship Type="http://schemas.openxmlformats.org/officeDocument/2006/relationships/notesMaster" Target="/ppt/notesMasters/notesMaster1.xml" Id="R04ca0bae8dae4702" /><Relationship Type="http://schemas.openxmlformats.org/officeDocument/2006/relationships/presProps" Target="/ppt/presProps.xml" Id="R4b0861910e8f4b97" /><Relationship Type="http://schemas.openxmlformats.org/officeDocument/2006/relationships/tableStyles" Target="/ppt/tableStyles.xml" Id="Rdb66558267a94b59" /><Relationship Type="http://schemas.openxmlformats.org/officeDocument/2006/relationships/slide" Target="/ppt/slides/slide1.xml" Id="R7777a4f98d10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c264ba1d6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2d0f59a84470c" /><Relationship Type="http://schemas.openxmlformats.org/officeDocument/2006/relationships/notesMaster" Target="/ppt/notesMasters/notesMaster1.xml" Id="R28bf88b890c0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0abc6094b45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e78f1d0c140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5788e49324e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f0a7b112745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582a561e942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9a9b2d0dd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123B43-AB43-4216-9310-70F18DF45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677833"/>
            <a:ext cx="13716000" cy="1788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50D57E-3AD6-4A32-9E0F-0927825868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6810375"/>
            <a:ext cx="120015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531F8D-DE0B-4795-BAF1-30EE01DBC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5159375"/>
            <a:ext cx="13716000" cy="206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48B486-AF99-491C-B431-790E7948E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63083"/>
            <a:ext cx="15216188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37CFE6-96D4-4596-9A2A-44B08F0D5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39583"/>
            <a:ext cx="15216188" cy="770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1A6059-9686-4656-BD05-931DBBE50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63083"/>
            <a:ext cx="15216188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B92AD-F04D-430D-B3F0-D6C5215ADC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39583"/>
            <a:ext cx="7072313" cy="770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B6485A-3856-44E9-8F19-CE5AEF15AE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3439583"/>
            <a:ext cx="7072313" cy="770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B03B6D-7EBE-42D6-91D9-15D98108F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63083"/>
            <a:ext cx="15216188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EC043F-9206-449A-A1F5-6EC8188F3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39583"/>
            <a:ext cx="7072313" cy="770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d4c291c36496b" /><Relationship Type="http://schemas.openxmlformats.org/officeDocument/2006/relationships/slideLayout" Target="/ppt/slideLayouts/slideLayout1.xml" Id="Rbb5b248f8efd460e" /><Relationship Type="http://schemas.openxmlformats.org/officeDocument/2006/relationships/slideLayout" Target="/ppt/slideLayouts/slideLayout2.xml" Id="R6df1350c78314879" /><Relationship Type="http://schemas.openxmlformats.org/officeDocument/2006/relationships/slideLayout" Target="/ppt/slideLayouts/slideLayout3.xml" Id="Re4a403241b8e4ded" /><Relationship Type="http://schemas.openxmlformats.org/officeDocument/2006/relationships/slideLayout" Target="/ppt/slideLayouts/slideLayout4.xml" Id="R052789da7adf4c45" /><Relationship Type="http://schemas.openxmlformats.org/officeDocument/2006/relationships/slideLayout" Target="/ppt/slideLayouts/slideLayout5.xml" Id="R42f9574940fd45d7" /><Relationship Type="http://schemas.openxmlformats.org/officeDocument/2006/relationships/slideLayout" Target="/ppt/slideLayouts/slideLayout6.xml" Id="R2d885a8b37ee42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5b248f8efd460e"/>
    <p:sldLayoutId xmlns:r="http://schemas.openxmlformats.org/officeDocument/2006/relationships" id="2147483650" r:id="R6df1350c78314879"/>
    <p:sldLayoutId xmlns:r="http://schemas.openxmlformats.org/officeDocument/2006/relationships" id="2147483651" r:id="Re4a403241b8e4ded"/>
    <p:sldLayoutId xmlns:r="http://schemas.openxmlformats.org/officeDocument/2006/relationships" id="2147483652" r:id="R052789da7adf4c45"/>
    <p:sldLayoutId xmlns:r="http://schemas.openxmlformats.org/officeDocument/2006/relationships" id="2147483653" r:id="R42f9574940fd45d7"/>
    <p:sldLayoutId xmlns:r="http://schemas.openxmlformats.org/officeDocument/2006/relationships" id="2147483654" r:id="R2d885a8b37ee42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e9f32abe34313" /><Relationship Type="http://schemas.openxmlformats.org/officeDocument/2006/relationships/notesSlide" Target="/ppt/notesSlides/notesSlide1.xml" Id="R43e29b2c7d28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poke-nw">
            <a:extLst xmlns:a="http://schemas.openxmlformats.org/drawingml/2006/main">
              <a:ext uri="{FF2B5EF4-FFF2-40B4-BE49-F238E27FC236}">
                <a16:creationId xmlns:a16="http://schemas.microsoft.com/office/drawing/2014/main" id="{87F6019B-8B36-411E-A9F4-0E5CDE56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333625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5CFD9"/>
            </a:solidFill>
            <a:prstDash val="solid"/>
          </a:ln>
        </p:spPr>
      </p:sp>
      <p:sp>
        <p:nvSpPr>
          <p:cNvPr id="2" name="spoke-ne">
            <a:extLst xmlns:a="http://schemas.openxmlformats.org/drawingml/2006/main">
              <a:ext uri="{FF2B5EF4-FFF2-40B4-BE49-F238E27FC236}">
                <a16:creationId xmlns:a16="http://schemas.microsoft.com/office/drawing/2014/main" id="{B4A4C4AC-6167-4CA5-B975-78C35AE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2500" y="3190875"/>
            <a:ext cx="2333625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5CFD9"/>
            </a:solidFill>
            <a:prstDash val="solid"/>
          </a:ln>
        </p:spPr>
      </p:sp>
      <p:sp>
        <p:nvSpPr>
          <p:cNvPr id="3" name="spoke-sw">
            <a:extLst xmlns:a="http://schemas.openxmlformats.org/drawingml/2006/main">
              <a:ext uri="{FF2B5EF4-FFF2-40B4-BE49-F238E27FC236}">
                <a16:creationId xmlns:a16="http://schemas.microsoft.com/office/drawing/2014/main" id="{79A69E38-0D0A-4370-A1FB-729B96C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38875" y="6191250"/>
            <a:ext cx="2333625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5CFD9"/>
            </a:solidFill>
            <a:prstDash val="solid"/>
          </a:ln>
        </p:spPr>
      </p:sp>
      <p:sp>
        <p:nvSpPr>
          <p:cNvPr id="4" name="spoke-se">
            <a:extLst xmlns:a="http://schemas.openxmlformats.org/drawingml/2006/main">
              <a:ext uri="{FF2B5EF4-FFF2-40B4-BE49-F238E27FC236}">
                <a16:creationId xmlns:a16="http://schemas.microsoft.com/office/drawing/2014/main" id="{4DBF2CF7-B7EF-486E-A22D-2C50419E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91250"/>
            <a:ext cx="2333625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5CFD9"/>
            </a:solidFill>
            <a:prstDash val="solid"/>
          </a:ln>
        </p:spPr>
      </p:sp>
      <p:sp>
        <p:nvSpPr>
          <p:cNvPr id="5" name="representation-panel">
            <a:extLst xmlns:a="http://schemas.openxmlformats.org/drawingml/2006/main">
              <a:ext uri="{FF2B5EF4-FFF2-40B4-BE49-F238E27FC236}">
                <a16:creationId xmlns:a16="http://schemas.microsoft.com/office/drawing/2014/main" id="{7FFD37B2-C841-4929-BBC2-03EF27F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58102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12383">
            <a:solidFill>
              <a:srgbClr val="285C92"/>
            </a:solidFill>
            <a:prstDash val="solid"/>
          </a:ln>
        </p:spPr>
      </p:sp>
      <p:sp>
        <p:nvSpPr>
          <p:cNvPr id="6" name="representation-accent">
            <a:extLst xmlns:a="http://schemas.openxmlformats.org/drawingml/2006/main">
              <a:ext uri="{FF2B5EF4-FFF2-40B4-BE49-F238E27FC236}">
                <a16:creationId xmlns:a16="http://schemas.microsoft.com/office/drawing/2014/main" id="{9F7169F1-A3B1-4CE2-8077-2581C2B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571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9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representation-heading">
            <a:extLst xmlns:a="http://schemas.openxmlformats.org/drawingml/2006/main">
              <a:ext uri="{FF2B5EF4-FFF2-40B4-BE49-F238E27FC236}">
                <a16:creationId xmlns:a16="http://schemas.microsoft.com/office/drawing/2014/main" id="{C910C049-86E0-4BDC-BC58-010CC271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81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C92"/>
                </a:solidFill>
                <a:latin typeface="Arial"/>
                <a:ea typeface="Arial"/>
                <a:cs typeface="Arial"/>
              </a:rPr>
              <a:t>Representation &amp;</a:t>
            </a:r>
          </a:p>
          <a:p xmlns:a="http://schemas.openxmlformats.org/drawingml/2006/main">
            <a: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C92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8" name="representation-title-0">
            <a:extLst xmlns:a="http://schemas.openxmlformats.org/drawingml/2006/main">
              <a:ext uri="{FF2B5EF4-FFF2-40B4-BE49-F238E27FC236}">
                <a16:creationId xmlns:a16="http://schemas.microsoft.com/office/drawing/2014/main" id="{8BA78D96-A6B9-4246-AF8C-F023566A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335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9" name="representation-body-0">
            <a:extLst xmlns:a="http://schemas.openxmlformats.org/drawingml/2006/main">
              <a:ext uri="{FF2B5EF4-FFF2-40B4-BE49-F238E27FC236}">
                <a16:creationId xmlns:a16="http://schemas.microsoft.com/office/drawing/2014/main" id="{6BA5F6DC-1D94-4838-8558-81C2A928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Component recovery and mechanism-driven evaluation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10" name="representation-title-1">
            <a:extLst xmlns:a="http://schemas.openxmlformats.org/drawingml/2006/main">
              <a:ext uri="{FF2B5EF4-FFF2-40B4-BE49-F238E27FC236}">
                <a16:creationId xmlns:a16="http://schemas.microsoft.com/office/drawing/2014/main" id="{104AC210-8B01-43EF-B690-8BAADD96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11" name="representation-body-1">
            <a:extLst xmlns:a="http://schemas.openxmlformats.org/drawingml/2006/main">
              <a:ext uri="{FF2B5EF4-FFF2-40B4-BE49-F238E27FC236}">
                <a16:creationId xmlns:a16="http://schemas.microsoft.com/office/drawing/2014/main" id="{31A7971A-BE3A-4003-BE4D-12B0D21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MIIR 2025 · Technical report</a:t>
            </a:r>
          </a:p>
        </p:txBody>
      </p:sp>
      <p:sp>
        <p:nvSpPr>
          <p:cNvPr id="12" name="representation-title-2">
            <a:extLst xmlns:a="http://schemas.openxmlformats.org/drawingml/2006/main">
              <a:ext uri="{FF2B5EF4-FFF2-40B4-BE49-F238E27FC236}">
                <a16:creationId xmlns:a16="http://schemas.microsoft.com/office/drawing/2014/main" id="{16484DE6-BC06-402F-8CDC-C086D00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DeTime · TSDecompose-Benchmark</a:t>
            </a:r>
          </a:p>
        </p:txBody>
      </p:sp>
      <p:sp>
        <p:nvSpPr>
          <p:cNvPr id="13" name="representation-body-2">
            <a:extLst xmlns:a="http://schemas.openxmlformats.org/drawingml/2006/main">
              <a:ext uri="{FF2B5EF4-FFF2-40B4-BE49-F238E27FC236}">
                <a16:creationId xmlns:a16="http://schemas.microsoft.com/office/drawing/2014/main" id="{5AC09E22-E095-410F-8F82-63A0828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 for time-series decomposition</a:t>
            </a:r>
          </a:p>
        </p:txBody>
      </p:sp>
      <p:sp>
        <p:nvSpPr>
          <p:cNvPr id="14" name="retrieval-panel">
            <a:extLst xmlns:a="http://schemas.openxmlformats.org/drawingml/2006/main">
              <a:ext uri="{FF2B5EF4-FFF2-40B4-BE49-F238E27FC236}">
                <a16:creationId xmlns:a16="http://schemas.microsoft.com/office/drawing/2014/main" id="{F1234DD9-3622-41E0-9C2B-C96E59D2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"/>
            <a:ext cx="58102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12383">
            <a:solidFill>
              <a:srgbClr val="14736F"/>
            </a:solidFill>
            <a:prstDash val="solid"/>
          </a:ln>
        </p:spPr>
      </p:sp>
      <p:sp>
        <p:nvSpPr>
          <p:cNvPr id="15" name="retrieval-accent">
            <a:extLst xmlns:a="http://schemas.openxmlformats.org/drawingml/2006/main">
              <a:ext uri="{FF2B5EF4-FFF2-40B4-BE49-F238E27FC236}">
                <a16:creationId xmlns:a16="http://schemas.microsoft.com/office/drawing/2014/main" id="{AEA0B716-0767-45FC-86D8-32A4D50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"/>
            <a:ext cx="571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6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retrieval-heading">
            <a:extLst xmlns:a="http://schemas.openxmlformats.org/drawingml/2006/main">
              <a:ext uri="{FF2B5EF4-FFF2-40B4-BE49-F238E27FC236}">
                <a16:creationId xmlns:a16="http://schemas.microsoft.com/office/drawing/2014/main" id="{A2E6BCEB-9329-4E94-8A90-E0A03366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36F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36F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7" name="retrieval-title-0">
            <a:extLst xmlns:a="http://schemas.openxmlformats.org/drawingml/2006/main">
              <a:ext uri="{FF2B5EF4-FFF2-40B4-BE49-F238E27FC236}">
                <a16:creationId xmlns:a16="http://schemas.microsoft.com/office/drawing/2014/main" id="{4839D543-2A7F-4D63-97A5-466E2D15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5335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18" name="retrieval-body-0">
            <a:extLst xmlns:a="http://schemas.openxmlformats.org/drawingml/2006/main">
              <a:ext uri="{FF2B5EF4-FFF2-40B4-BE49-F238E27FC236}">
                <a16:creationId xmlns:a16="http://schemas.microsoft.com/office/drawing/2014/main" id="{61F16F61-839E-4209-9751-5DC84A0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1240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SARAF · KDD 2026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Stationarity-aware selection for forecasting</a:t>
            </a:r>
          </a:p>
        </p:txBody>
      </p:sp>
      <p:sp>
        <p:nvSpPr>
          <p:cNvPr id="19" name="retrieval-title-1">
            <a:extLst xmlns:a="http://schemas.openxmlformats.org/drawingml/2006/main">
              <a:ext uri="{FF2B5EF4-FFF2-40B4-BE49-F238E27FC236}">
                <a16:creationId xmlns:a16="http://schemas.microsoft.com/office/drawing/2014/main" id="{8788E24A-2D24-40CE-BAE0-8258A6D4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7655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20" name="retrieval-body-1">
            <a:extLst xmlns:a="http://schemas.openxmlformats.org/drawingml/2006/main">
              <a:ext uri="{FF2B5EF4-FFF2-40B4-BE49-F238E27FC236}">
                <a16:creationId xmlns:a16="http://schemas.microsoft.com/office/drawing/2014/main" id="{26DA96F1-C5FA-4187-86C1-F3112151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190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21" name="retrieval-title-2">
            <a:extLst xmlns:a="http://schemas.openxmlformats.org/drawingml/2006/main">
              <a:ext uri="{FF2B5EF4-FFF2-40B4-BE49-F238E27FC236}">
                <a16:creationId xmlns:a16="http://schemas.microsoft.com/office/drawing/2014/main" id="{4AC5DEFB-7837-4805-933A-6BCAF52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9433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22" name="retrieval-body-2">
            <a:extLst xmlns:a="http://schemas.openxmlformats.org/drawingml/2006/main">
              <a:ext uri="{FF2B5EF4-FFF2-40B4-BE49-F238E27FC236}">
                <a16:creationId xmlns:a16="http://schemas.microsoft.com/office/drawing/2014/main" id="{096D14D8-AA6B-40A8-8686-BF232D3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5339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ICML 2026 workshop · Accepted</a:t>
            </a:r>
          </a:p>
        </p:txBody>
      </p:sp>
      <p:sp>
        <p:nvSpPr>
          <p:cNvPr id="23" name="compression-panel">
            <a:extLst xmlns:a="http://schemas.openxmlformats.org/drawingml/2006/main">
              <a:ext uri="{FF2B5EF4-FFF2-40B4-BE49-F238E27FC236}">
                <a16:creationId xmlns:a16="http://schemas.microsoft.com/office/drawing/2014/main" id="{D8C2FB8A-26F0-42E3-8664-3D0FD77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72250"/>
            <a:ext cx="58102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D"/>
          </a:solidFill>
          <a:ln xmlns:a="http://schemas.openxmlformats.org/drawingml/2006/main" w="12383">
            <a:solidFill>
              <a:srgbClr val="996126"/>
            </a:solidFill>
            <a:prstDash val="solid"/>
          </a:ln>
        </p:spPr>
      </p:sp>
      <p:sp>
        <p:nvSpPr>
          <p:cNvPr id="24" name="compression-accent">
            <a:extLst xmlns:a="http://schemas.openxmlformats.org/drawingml/2006/main">
              <a:ext uri="{FF2B5EF4-FFF2-40B4-BE49-F238E27FC236}">
                <a16:creationId xmlns:a16="http://schemas.microsoft.com/office/drawing/2014/main" id="{08A301F9-3B02-4A74-A113-E2D9E7AC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72250"/>
            <a:ext cx="571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612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compression-heading">
            <a:extLst xmlns:a="http://schemas.openxmlformats.org/drawingml/2006/main">
              <a:ext uri="{FF2B5EF4-FFF2-40B4-BE49-F238E27FC236}">
                <a16:creationId xmlns:a16="http://schemas.microsoft.com/office/drawing/2014/main" id="{21C6B095-5917-430F-91FD-10662ECA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78180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126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126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26" name="compression-title-0">
            <a:extLst xmlns:a="http://schemas.openxmlformats.org/drawingml/2006/main">
              <a:ext uri="{FF2B5EF4-FFF2-40B4-BE49-F238E27FC236}">
                <a16:creationId xmlns:a16="http://schemas.microsoft.com/office/drawing/2014/main" id="{F86DEEC1-61E5-424D-92CF-7D45D19F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7715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Temporal tokenization</a:t>
            </a:r>
          </a:p>
        </p:txBody>
      </p:sp>
      <p:sp>
        <p:nvSpPr>
          <p:cNvPr id="27" name="compression-body-0">
            <a:extLst xmlns:a="http://schemas.openxmlformats.org/drawingml/2006/main">
              <a:ext uri="{FF2B5EF4-FFF2-40B4-BE49-F238E27FC236}">
                <a16:creationId xmlns:a16="http://schemas.microsoft.com/office/drawing/2014/main" id="{DC0DDE1D-1886-4FAE-B4BA-B2FDFBA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9914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Current research for foundation and world models</a:t>
            </a:r>
          </a:p>
        </p:txBody>
      </p:sp>
      <p:sp>
        <p:nvSpPr>
          <p:cNvPr id="28" name="compression-title-1">
            <a:extLst xmlns:a="http://schemas.openxmlformats.org/drawingml/2006/main">
              <a:ext uri="{FF2B5EF4-FFF2-40B4-BE49-F238E27FC236}">
                <a16:creationId xmlns:a16="http://schemas.microsoft.com/office/drawing/2014/main" id="{B6DD50EE-2A4E-4EEC-BC8C-0E0092BC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49630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29" name="compression-body-1">
            <a:extLst xmlns:a="http://schemas.openxmlformats.org/drawingml/2006/main">
              <a:ext uri="{FF2B5EF4-FFF2-40B4-BE49-F238E27FC236}">
                <a16:creationId xmlns:a16="http://schemas.microsoft.com/office/drawing/2014/main" id="{ABF1A9FA-3F86-435D-8C35-75B5125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810625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Context compression and task memory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Task-oriented records with selected source text</a:t>
            </a:r>
          </a:p>
        </p:txBody>
      </p:sp>
      <p:sp>
        <p:nvSpPr>
          <p:cNvPr id="30" name="compression-title-2">
            <a:extLst xmlns:a="http://schemas.openxmlformats.org/drawingml/2006/main">
              <a:ext uri="{FF2B5EF4-FFF2-40B4-BE49-F238E27FC236}">
                <a16:creationId xmlns:a16="http://schemas.microsoft.com/office/drawing/2014/main" id="{E0C76E6A-B6A6-40EE-BABB-B2D99361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81075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Symbolic encoding</a:t>
            </a:r>
          </a:p>
        </p:txBody>
      </p:sp>
      <p:sp>
        <p:nvSpPr>
          <p:cNvPr id="31" name="compression-body-2">
            <a:extLst xmlns:a="http://schemas.openxmlformats.org/drawingml/2006/main">
              <a:ext uri="{FF2B5EF4-FFF2-40B4-BE49-F238E27FC236}">
                <a16:creationId xmlns:a16="http://schemas.microsoft.com/office/drawing/2014/main" id="{3C652862-80CF-48AD-B20D-4361BF92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250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Literature examples: PAA, SAX and SAA-SAX</a:t>
            </a:r>
          </a:p>
        </p:txBody>
      </p:sp>
      <p:sp>
        <p:nvSpPr>
          <p:cNvPr id="32" name="prediction-panel">
            <a:extLst xmlns:a="http://schemas.openxmlformats.org/drawingml/2006/main">
              <a:ext uri="{FF2B5EF4-FFF2-40B4-BE49-F238E27FC236}">
                <a16:creationId xmlns:a16="http://schemas.microsoft.com/office/drawing/2014/main" id="{5F389940-DEE1-4474-B846-F3E3F64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72250"/>
            <a:ext cx="58102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12383">
            <a:solidFill>
              <a:srgbClr val="66518A"/>
            </a:solidFill>
            <a:prstDash val="solid"/>
          </a:ln>
        </p:spPr>
      </p:sp>
      <p:sp>
        <p:nvSpPr>
          <p:cNvPr id="33" name="prediction-accent">
            <a:extLst xmlns:a="http://schemas.openxmlformats.org/drawingml/2006/main">
              <a:ext uri="{FF2B5EF4-FFF2-40B4-BE49-F238E27FC236}">
                <a16:creationId xmlns:a16="http://schemas.microsoft.com/office/drawing/2014/main" id="{88E139C0-073C-464B-A064-B089FA0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72250"/>
            <a:ext cx="571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1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prediction-heading">
            <a:extLst xmlns:a="http://schemas.openxmlformats.org/drawingml/2006/main">
              <a:ext uri="{FF2B5EF4-FFF2-40B4-BE49-F238E27FC236}">
                <a16:creationId xmlns:a16="http://schemas.microsoft.com/office/drawing/2014/main" id="{B69AEB45-BEB2-439E-BE9D-84884E2F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78180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518A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518A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35" name="prediction-title-0">
            <a:extLst xmlns:a="http://schemas.openxmlformats.org/drawingml/2006/main">
              <a:ext uri="{FF2B5EF4-FFF2-40B4-BE49-F238E27FC236}">
                <a16:creationId xmlns:a16="http://schemas.microsoft.com/office/drawing/2014/main" id="{F7A71FE8-417B-4A99-9CD9-213E9CD4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67715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36" name="prediction-body-0">
            <a:extLst xmlns:a="http://schemas.openxmlformats.org/drawingml/2006/main">
              <a:ext uri="{FF2B5EF4-FFF2-40B4-BE49-F238E27FC236}">
                <a16:creationId xmlns:a16="http://schemas.microsoft.com/office/drawing/2014/main" id="{E99D945B-3951-4884-8909-A05DF24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972425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Taxi demand prediction · IJCNN 2020</a:t>
            </a:r>
          </a:p>
        </p:txBody>
      </p:sp>
      <p:sp>
        <p:nvSpPr>
          <p:cNvPr id="37" name="prediction-title-1">
            <a:extLst xmlns:a="http://schemas.openxmlformats.org/drawingml/2006/main">
              <a:ext uri="{FF2B5EF4-FFF2-40B4-BE49-F238E27FC236}">
                <a16:creationId xmlns:a16="http://schemas.microsoft.com/office/drawing/2014/main" id="{371465AD-343B-49D1-B802-EAB56B2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8329613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38" name="prediction-body-1">
            <a:extLst xmlns:a="http://schemas.openxmlformats.org/drawingml/2006/main">
              <a:ext uri="{FF2B5EF4-FFF2-40B4-BE49-F238E27FC236}">
                <a16:creationId xmlns:a16="http://schemas.microsoft.com/office/drawing/2014/main" id="{50C976C6-3543-4ACA-845C-B49325C7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8624888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Online multi-output regression · ICONIP 2023</a:t>
            </a:r>
          </a:p>
        </p:txBody>
      </p:sp>
      <p:sp>
        <p:nvSpPr>
          <p:cNvPr id="39" name="prediction-title-2">
            <a:extLst xmlns:a="http://schemas.openxmlformats.org/drawingml/2006/main">
              <a:ext uri="{FF2B5EF4-FFF2-40B4-BE49-F238E27FC236}">
                <a16:creationId xmlns:a16="http://schemas.microsoft.com/office/drawing/2014/main" id="{04709822-4C93-4990-9DB8-3B40248A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89820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40" name="prediction-body-2">
            <a:extLst xmlns:a="http://schemas.openxmlformats.org/drawingml/2006/main">
              <a:ext uri="{FF2B5EF4-FFF2-40B4-BE49-F238E27FC236}">
                <a16:creationId xmlns:a16="http://schemas.microsoft.com/office/drawing/2014/main" id="{3710D142-78F1-463E-A55A-D590315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9277350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COVID-19 spatiotemporal prediction · Heliyon 2023</a:t>
            </a:r>
          </a:p>
        </p:txBody>
      </p:sp>
      <p:sp>
        <p:nvSpPr>
          <p:cNvPr id="41" name="prediction-title-3">
            <a:extLst xmlns:a="http://schemas.openxmlformats.org/drawingml/2006/main">
              <a:ext uri="{FF2B5EF4-FFF2-40B4-BE49-F238E27FC236}">
                <a16:creationId xmlns:a16="http://schemas.microsoft.com/office/drawing/2014/main" id="{411D5F3E-AF52-43BE-886A-E1117E3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9634538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42" name="prediction-body-3">
            <a:extLst xmlns:a="http://schemas.openxmlformats.org/drawingml/2006/main">
              <a:ext uri="{FF2B5EF4-FFF2-40B4-BE49-F238E27FC236}">
                <a16:creationId xmlns:a16="http://schemas.microsoft.com/office/drawing/2014/main" id="{7B5D2B3E-ED21-4CB7-957B-5F0CB841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9929813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Interpretable multi-target regression · ICONIP 2022</a:t>
            </a:r>
          </a:p>
        </p:txBody>
      </p:sp>
      <p:sp>
        <p:nvSpPr>
          <p:cNvPr id="43" name="prediction-title-4">
            <a:extLst xmlns:a="http://schemas.openxmlformats.org/drawingml/2006/main">
              <a:ext uri="{FF2B5EF4-FFF2-40B4-BE49-F238E27FC236}">
                <a16:creationId xmlns:a16="http://schemas.microsoft.com/office/drawing/2014/main" id="{D8D53BCF-CFF5-4A5C-97AA-303579B7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028700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44" name="prediction-body-4">
            <a:extLst xmlns:a="http://schemas.openxmlformats.org/drawingml/2006/main">
              <a:ext uri="{FF2B5EF4-FFF2-40B4-BE49-F238E27FC236}">
                <a16:creationId xmlns:a16="http://schemas.microsoft.com/office/drawing/2014/main" id="{2749B1DD-6069-4056-A9D2-320CBDA7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0582275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Interpretable epigenetic age regression · BIBM 2024</a:t>
            </a:r>
          </a:p>
        </p:txBody>
      </p:sp>
      <p:sp>
        <p:nvSpPr>
          <p:cNvPr id="45" name="prediction-title-5">
            <a:extLst xmlns:a="http://schemas.openxmlformats.org/drawingml/2006/main">
              <a:ext uri="{FF2B5EF4-FFF2-40B4-BE49-F238E27FC236}">
                <a16:creationId xmlns:a16="http://schemas.microsoft.com/office/drawing/2014/main" id="{385F04CF-E3FD-4B4E-9C00-0605F54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0939463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46" name="prediction-body-5">
            <a:extLst xmlns:a="http://schemas.openxmlformats.org/drawingml/2006/main">
              <a:ext uri="{FF2B5EF4-FFF2-40B4-BE49-F238E27FC236}">
                <a16:creationId xmlns:a16="http://schemas.microsoft.com/office/drawing/2014/main" id="{AC728C25-F9F0-4577-B0BC-9CC2C7F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1234738"/>
            <a:ext cx="5238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47" name="central-ring">
            <a:extLst xmlns:a="http://schemas.openxmlformats.org/drawingml/2006/main">
              <a:ext uri="{FF2B5EF4-FFF2-40B4-BE49-F238E27FC236}">
                <a16:creationId xmlns:a16="http://schemas.microsoft.com/office/drawing/2014/main" id="{5DCE03AF-D160-4D53-A4D2-872C0DF2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48" name="central-basis">
            <a:extLst xmlns:a="http://schemas.openxmlformats.org/drawingml/2006/main">
              <a:ext uri="{FF2B5EF4-FFF2-40B4-BE49-F238E27FC236}">
                <a16:creationId xmlns:a16="http://schemas.microsoft.com/office/drawing/2014/main" id="{090401F1-0A34-473F-A147-00025D7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3581400" cy="358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35526D"/>
            </a:solidFill>
            <a:prstDash val="solid"/>
          </a:ln>
        </p:spPr>
      </p:sp>
      <p:sp>
        <p:nvSpPr>
          <p:cNvPr id="49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86966AC4-E690-41AB-B19A-62CABD6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57775"/>
            <a:ext cx="3067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A57"/>
                </a:solidFill>
                <a:latin typeface="Arial"/>
                <a:ea typeface="Arial"/>
                <a:cs typeface="Arial"/>
              </a:rPr>
              <a:t>Time Series</a:t>
            </a:r>
          </a:p>
          <a:p xmlns:a="http://schemas.openxmlformats.org/drawingml/2006/main">
            <a:pPr algn="ctr">
              <a:defRPr sz="2325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A57"/>
                </a:solidFill>
                <a:latin typeface="Arial"/>
                <a:ea typeface="Arial"/>
                <a:cs typeface="Arial"/>
              </a:rPr>
              <a:t>&amp; Temporal</a:t>
            </a:r>
          </a:p>
          <a:p xmlns:a="http://schemas.openxmlformats.org/drawingml/2006/main">
            <a:pPr algn="ctr">
              <a:defRPr sz="2325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A57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50" name="central-subtitle">
            <a:extLst xmlns:a="http://schemas.openxmlformats.org/drawingml/2006/main">
              <a:ext uri="{FF2B5EF4-FFF2-40B4-BE49-F238E27FC236}">
                <a16:creationId xmlns:a16="http://schemas.microsoft.com/office/drawing/2014/main" id="{8FA8E50F-BFC1-4383-B101-F22DC0E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4770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0">
                <a:solidFill>
                  <a:srgbClr val="4A61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4A6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A6177"/>
                </a:solidFill>
                <a:latin typeface="Arial"/>
                <a:ea typeface="Arial"/>
                <a:cs typeface="Arial"/>
              </a:rPr>
              <a:t>Representation theory</a:t>
            </a:r>
          </a:p>
          <a:p xmlns:a="http://schemas.openxmlformats.org/drawingml/2006/main">
            <a:pPr algn="ctr">
              <a:defRPr sz="1575" b="0">
                <a:solidFill>
                  <a:srgbClr val="4A6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A6177"/>
                </a:solidFill>
                <a:latin typeface="Arial"/>
                <a:ea typeface="Arial"/>
                <a:cs typeface="Arial"/>
              </a:rPr>
              <a:t>MRes / PhD</a:t>
            </a:r>
          </a:p>
        </p:txBody>
      </p:sp>
    </p:spTree>
    <p:extLst>
      <p:ext uri="{BB962C8B-B14F-4D97-AF65-F5344CB8AC3E}">
        <p14:creationId xmlns:p14="http://schemas.microsoft.com/office/powerpoint/2010/main" val="919044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2026-10-15T11:12:34.0670000Z</dcterms:created>
  <dcterms:modified xsi:type="dcterms:W3CDTF">2026-10-15T11:12:34.0670000Z</dcterms:modified>
</coreProperties>
</file>