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bfc5e8660457d" /><Relationship Type="http://schemas.openxmlformats.org/officeDocument/2006/relationships/extended-properties" Target="/docProps/app.xml" Id="R86153bd0186248bf" /><Relationship Type="http://schemas.openxmlformats.org/officeDocument/2006/relationships/officeDocument" Target="/ppt/presentation.xml" Id="R97c526c7e038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75c63e0a464bce"/>
  </p:sldMasterIdLst>
  <p:notesMasterIdLst>
    <p:notesMasterId xmlns:r="http://schemas.openxmlformats.org/officeDocument/2006/relationships" r:id="R4371a84ce821410e"/>
  </p:notesMasterIdLst>
  <p:sldIdLst>
    <p:sldId xmlns:r="http://schemas.openxmlformats.org/officeDocument/2006/relationships" id="256" r:id="R1c0296a263ab490d"/>
  </p:sldIdLst>
  <p:sldSz cx="7239000" cy="26003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c9378c49a4147" /><Relationship Type="http://schemas.openxmlformats.org/officeDocument/2006/relationships/slideMaster" Target="/ppt/slideMasters/slideMaster1.xml" Id="R9175c63e0a464bce" /><Relationship Type="http://schemas.openxmlformats.org/officeDocument/2006/relationships/notesMaster" Target="/ppt/notesMasters/notesMaster1.xml" Id="R4371a84ce821410e" /><Relationship Type="http://schemas.openxmlformats.org/officeDocument/2006/relationships/presProps" Target="/ppt/presProps.xml" Id="Rc41433a3b0094173" /><Relationship Type="http://schemas.openxmlformats.org/officeDocument/2006/relationships/tableStyles" Target="/ppt/tableStyles.xml" Id="R174a2ebf61eb456c" /><Relationship Type="http://schemas.openxmlformats.org/officeDocument/2006/relationships/slide" Target="/ppt/slides/slide1.xml" Id="R1c0296a263ab49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6498f9d3c841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2a9c64b9f487d" /><Relationship Type="http://schemas.openxmlformats.org/officeDocument/2006/relationships/notesMaster" Target="/ppt/notesMasters/notesMaster1.xml" Id="Re242b85af81a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e389a8c4144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81d5ea2a046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f355d337e4d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495366f834c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f827d073f45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1c8ccef9943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F98755-8E55-4FB8-974D-3E76A550D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900" y="9823450"/>
            <a:ext cx="5791200" cy="375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374151-DBA9-4622-B97F-DD080F0792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85850" y="14301788"/>
            <a:ext cx="5067300" cy="288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62FD8A-3659-4ABE-A94C-E7D4E8A28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900" y="10834688"/>
            <a:ext cx="57912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CA246F-4779-46CA-AAE5-383D2A30A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194" y="2022475"/>
            <a:ext cx="6424613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0567E0-CAFD-4015-8A92-6FBB0BB44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7194" y="7223125"/>
            <a:ext cx="6424613" cy="161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57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1pPr>
            <a:lvl2pPr marL="3167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2pPr>
            <a:lvl3pPr marL="4976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3pPr>
            <a:lvl4pPr marL="6786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4pPr>
            <a:lvl5pPr marL="8596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5pPr>
            <a:lvl6pPr marL="10406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6pPr>
            <a:lvl7pPr marL="12215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7pPr>
            <a:lvl8pPr marL="14025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8pPr>
            <a:lvl9pPr marL="15835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96FF37-277E-49CD-8924-494282116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194" y="2022475"/>
            <a:ext cx="6424613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F75E33-0694-42C9-94E6-47D354A95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7194" y="7223125"/>
            <a:ext cx="2986088" cy="161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57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1pPr>
            <a:lvl2pPr marL="3167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2pPr>
            <a:lvl3pPr marL="4976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3pPr>
            <a:lvl4pPr marL="6786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4pPr>
            <a:lvl5pPr marL="8596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5pPr>
            <a:lvl6pPr marL="10406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6pPr>
            <a:lvl7pPr marL="12215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7pPr>
            <a:lvl8pPr marL="14025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8pPr>
            <a:lvl9pPr marL="15835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7E33E6-18EB-4D40-92DA-DB158FE613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845719" y="7223125"/>
            <a:ext cx="2986088" cy="161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57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1pPr>
            <a:lvl2pPr marL="3167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2pPr>
            <a:lvl3pPr marL="4976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3pPr>
            <a:lvl4pPr marL="6786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4pPr>
            <a:lvl5pPr marL="8596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5pPr>
            <a:lvl6pPr marL="10406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6pPr>
            <a:lvl7pPr marL="12215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7pPr>
            <a:lvl8pPr marL="14025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8pPr>
            <a:lvl9pPr marL="15835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C0A20-8EE0-438F-A76C-A6BF167F9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194" y="2022475"/>
            <a:ext cx="6424613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1558D1-712E-4EAC-ACA9-37C9C3A32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7194" y="7223125"/>
            <a:ext cx="2986088" cy="161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57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1pPr>
            <a:lvl2pPr marL="3167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2pPr>
            <a:lvl3pPr marL="4976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3pPr>
            <a:lvl4pPr marL="6786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4pPr>
            <a:lvl5pPr marL="8596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5pPr>
            <a:lvl6pPr marL="104060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6pPr>
            <a:lvl7pPr marL="122158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7pPr>
            <a:lvl8pPr marL="1402556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8pPr>
            <a:lvl9pPr marL="1583531" indent="-135731">
              <a:lnSpc>
                <a:spcPct val="110000"/>
              </a:lnSpc>
              <a:spcBef>
                <a:spcPts val="0"/>
              </a:spcBef>
              <a:spcAft>
                <a:spcPts val="7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da9a9d08d4a81" /><Relationship Type="http://schemas.openxmlformats.org/officeDocument/2006/relationships/slideLayout" Target="/ppt/slideLayouts/slideLayout1.xml" Id="R03e8ae3c928f4668" /><Relationship Type="http://schemas.openxmlformats.org/officeDocument/2006/relationships/slideLayout" Target="/ppt/slideLayouts/slideLayout2.xml" Id="R422eff0ec2fc4376" /><Relationship Type="http://schemas.openxmlformats.org/officeDocument/2006/relationships/slideLayout" Target="/ppt/slideLayouts/slideLayout3.xml" Id="R0b75028a9af34a03" /><Relationship Type="http://schemas.openxmlformats.org/officeDocument/2006/relationships/slideLayout" Target="/ppt/slideLayouts/slideLayout4.xml" Id="R63b09f15b25341d2" /><Relationship Type="http://schemas.openxmlformats.org/officeDocument/2006/relationships/slideLayout" Target="/ppt/slideLayouts/slideLayout5.xml" Id="R570ea9f6eb784155" /><Relationship Type="http://schemas.openxmlformats.org/officeDocument/2006/relationships/slideLayout" Target="/ppt/slideLayouts/slideLayout6.xml" Id="R8e6758808260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8ae3c928f4668"/>
    <p:sldLayoutId xmlns:r="http://schemas.openxmlformats.org/officeDocument/2006/relationships" id="2147483650" r:id="R422eff0ec2fc4376"/>
    <p:sldLayoutId xmlns:r="http://schemas.openxmlformats.org/officeDocument/2006/relationships" id="2147483651" r:id="R0b75028a9af34a03"/>
    <p:sldLayoutId xmlns:r="http://schemas.openxmlformats.org/officeDocument/2006/relationships" id="2147483652" r:id="R63b09f15b25341d2"/>
    <p:sldLayoutId xmlns:r="http://schemas.openxmlformats.org/officeDocument/2006/relationships" id="2147483653" r:id="R570ea9f6eb784155"/>
    <p:sldLayoutId xmlns:r="http://schemas.openxmlformats.org/officeDocument/2006/relationships" id="2147483654" r:id="R8e6758808260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2df04ed724771" /><Relationship Type="http://schemas.openxmlformats.org/officeDocument/2006/relationships/notesSlide" Target="/ppt/notesSlides/notesSlide1.xml" Id="Rb8e0346786e641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central-basis">
            <a:extLst xmlns:a="http://schemas.openxmlformats.org/drawingml/2006/main">
              <a:ext uri="{FF2B5EF4-FFF2-40B4-BE49-F238E27FC236}">
                <a16:creationId xmlns:a16="http://schemas.microsoft.com/office/drawing/2014/main" id="{6B1AF05B-8953-49B0-95F8-34774B6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"/>
            <a:ext cx="3619500" cy="2809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35526D"/>
            </a:solidFill>
            <a:prstDash val="solid"/>
          </a:ln>
        </p:spPr>
      </p:sp>
      <p:sp>
        <p:nvSpPr>
          <p:cNvPr id="2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3B9BC62C-2AB0-4FFA-A9D3-47B45BE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953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A57"/>
                </a:solidFill>
                <a:latin typeface="Arial"/>
                <a:ea typeface="Arial"/>
                <a:cs typeface="Arial"/>
              </a:rPr>
              <a:t>Time Series &amp;</a:t>
            </a:r>
          </a:p>
          <a:p xmlns:a="http://schemas.openxmlformats.org/drawingml/2006/main">
            <a:pPr algn="ctr">
              <a:defRPr sz="2100" b="1">
                <a:solidFill>
                  <a:srgbClr val="183A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A57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central-subtitle">
            <a:extLst xmlns:a="http://schemas.openxmlformats.org/drawingml/2006/main">
              <a:ext uri="{FF2B5EF4-FFF2-40B4-BE49-F238E27FC236}">
                <a16:creationId xmlns:a16="http://schemas.microsoft.com/office/drawing/2014/main" id="{5AB0BFD7-6D19-4105-BA22-DDE3C70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95475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0">
                <a:solidFill>
                  <a:srgbClr val="4A61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4A61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6177"/>
                </a:solidFill>
                <a:latin typeface="Arial"/>
                <a:ea typeface="Arial"/>
                <a:cs typeface="Arial"/>
              </a:rPr>
              <a:t>Representation theory · MRes / PhD</a:t>
            </a:r>
          </a:p>
        </p:txBody>
      </p:sp>
      <p:sp>
        <p:nvSpPr>
          <p:cNvPr id="4" name="representation-panel">
            <a:extLst xmlns:a="http://schemas.openxmlformats.org/drawingml/2006/main">
              <a:ext uri="{FF2B5EF4-FFF2-40B4-BE49-F238E27FC236}">
                <a16:creationId xmlns:a16="http://schemas.microsoft.com/office/drawing/2014/main" id="{3950CBCF-8983-40F3-A730-8FC4E232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76625"/>
            <a:ext cx="65722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12383">
            <a:solidFill>
              <a:srgbClr val="285C92"/>
            </a:solidFill>
            <a:prstDash val="solid"/>
          </a:ln>
        </p:spPr>
      </p:sp>
      <p:sp>
        <p:nvSpPr>
          <p:cNvPr id="5" name="representation-accent">
            <a:extLst xmlns:a="http://schemas.openxmlformats.org/drawingml/2006/main">
              <a:ext uri="{FF2B5EF4-FFF2-40B4-BE49-F238E27FC236}">
                <a16:creationId xmlns:a16="http://schemas.microsoft.com/office/drawing/2014/main" id="{0C9C3363-95AA-4911-9910-8AC0B4B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76625"/>
            <a:ext cx="571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92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representation-heading">
            <a:extLst xmlns:a="http://schemas.openxmlformats.org/drawingml/2006/main">
              <a:ext uri="{FF2B5EF4-FFF2-40B4-BE49-F238E27FC236}">
                <a16:creationId xmlns:a16="http://schemas.microsoft.com/office/drawing/2014/main" id="{AEF0D11B-DC13-4D2D-9602-12B283B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C92"/>
                </a:solidFill>
                <a:latin typeface="Arial"/>
                <a:ea typeface="Arial"/>
                <a:cs typeface="Arial"/>
              </a:rPr>
              <a:t>Representation &amp;</a:t>
            </a:r>
          </a:p>
          <a:p xmlns:a="http://schemas.openxmlformats.org/drawingml/2006/main">
            <a:pPr algn="l">
              <a:defRPr sz="2175" b="1">
                <a:solidFill>
                  <a:srgbClr val="285C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C92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7" name="representation-title-0">
            <a:extLst xmlns:a="http://schemas.openxmlformats.org/drawingml/2006/main">
              <a:ext uri="{FF2B5EF4-FFF2-40B4-BE49-F238E27FC236}">
                <a16:creationId xmlns:a16="http://schemas.microsoft.com/office/drawing/2014/main" id="{F2757463-0BB2-47BB-AB6D-6903F56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8" name="representation-body-0">
            <a:extLst xmlns:a="http://schemas.openxmlformats.org/drawingml/2006/main">
              <a:ext uri="{FF2B5EF4-FFF2-40B4-BE49-F238E27FC236}">
                <a16:creationId xmlns:a16="http://schemas.microsoft.com/office/drawing/2014/main" id="{F3FAA42E-3270-42CA-83BA-E63BB0D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Component recovery and mechanism-driven evaluation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9" name="representation-title-1">
            <a:extLst xmlns:a="http://schemas.openxmlformats.org/drawingml/2006/main">
              <a:ext uri="{FF2B5EF4-FFF2-40B4-BE49-F238E27FC236}">
                <a16:creationId xmlns:a16="http://schemas.microsoft.com/office/drawing/2014/main" id="{A5607C9F-DD31-43CB-933D-CFC10FF1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10" name="representation-body-1">
            <a:extLst xmlns:a="http://schemas.openxmlformats.org/drawingml/2006/main">
              <a:ext uri="{FF2B5EF4-FFF2-40B4-BE49-F238E27FC236}">
                <a16:creationId xmlns:a16="http://schemas.microsoft.com/office/drawing/2014/main" id="{309CA103-67E6-4828-9DC4-1BEB484A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15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MIIR 2025 · Technical report</a:t>
            </a:r>
          </a:p>
        </p:txBody>
      </p:sp>
      <p:sp>
        <p:nvSpPr>
          <p:cNvPr id="11" name="representation-title-2">
            <a:extLst xmlns:a="http://schemas.openxmlformats.org/drawingml/2006/main">
              <a:ext uri="{FF2B5EF4-FFF2-40B4-BE49-F238E27FC236}">
                <a16:creationId xmlns:a16="http://schemas.microsoft.com/office/drawing/2014/main" id="{6B537DE3-7BB5-4229-9725-D74FC49E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67575"/>
            <a:ext cx="600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DeTime · TSDecompose-Benchmark</a:t>
            </a:r>
          </a:p>
        </p:txBody>
      </p:sp>
      <p:sp>
        <p:nvSpPr>
          <p:cNvPr id="12" name="representation-body-2">
            <a:extLst xmlns:a="http://schemas.openxmlformats.org/drawingml/2006/main">
              <a:ext uri="{FF2B5EF4-FFF2-40B4-BE49-F238E27FC236}">
                <a16:creationId xmlns:a16="http://schemas.microsoft.com/office/drawing/2014/main" id="{B9E6729B-C452-4B6B-8292-C94ED2A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8190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 for time-series decomposition</a:t>
            </a:r>
          </a:p>
        </p:txBody>
      </p:sp>
      <p:sp>
        <p:nvSpPr>
          <p:cNvPr id="13" name="retrieval-panel">
            <a:extLst xmlns:a="http://schemas.openxmlformats.org/drawingml/2006/main">
              <a:ext uri="{FF2B5EF4-FFF2-40B4-BE49-F238E27FC236}">
                <a16:creationId xmlns:a16="http://schemas.microsoft.com/office/drawing/2014/main" id="{5B6A56B6-B862-45DC-977E-131165C2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0"/>
            <a:ext cx="65722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12383">
            <a:solidFill>
              <a:srgbClr val="14736F"/>
            </a:solidFill>
            <a:prstDash val="solid"/>
          </a:ln>
        </p:spPr>
      </p:sp>
      <p:sp>
        <p:nvSpPr>
          <p:cNvPr id="14" name="retrieval-accent">
            <a:extLst xmlns:a="http://schemas.openxmlformats.org/drawingml/2006/main">
              <a:ext uri="{FF2B5EF4-FFF2-40B4-BE49-F238E27FC236}">
                <a16:creationId xmlns:a16="http://schemas.microsoft.com/office/drawing/2014/main" id="{EE3B8FA1-F26D-4DF9-94A2-9A282347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0"/>
            <a:ext cx="571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6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retrieval-heading">
            <a:extLst xmlns:a="http://schemas.openxmlformats.org/drawingml/2006/main">
              <a:ext uri="{FF2B5EF4-FFF2-40B4-BE49-F238E27FC236}">
                <a16:creationId xmlns:a16="http://schemas.microsoft.com/office/drawing/2014/main" id="{7DC2E9C2-87B6-49AF-A4ED-2E67CD8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25830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36F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l">
              <a:defRPr sz="2175" b="1">
                <a:solidFill>
                  <a:srgbClr val="147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36F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6" name="retrieval-title-0">
            <a:extLst xmlns:a="http://schemas.openxmlformats.org/drawingml/2006/main">
              <a:ext uri="{FF2B5EF4-FFF2-40B4-BE49-F238E27FC236}">
                <a16:creationId xmlns:a16="http://schemas.microsoft.com/office/drawing/2014/main" id="{5057BF60-C4BF-45DB-AB95-DA201D0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1536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17" name="retrieval-body-0">
            <a:extLst xmlns:a="http://schemas.openxmlformats.org/drawingml/2006/main">
              <a:ext uri="{FF2B5EF4-FFF2-40B4-BE49-F238E27FC236}">
                <a16:creationId xmlns:a16="http://schemas.microsoft.com/office/drawing/2014/main" id="{F2EBB420-538C-49AE-9023-665BB08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7442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SARAF · KDD 2026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Stationarity-aware selection for forecasting</a:t>
            </a:r>
          </a:p>
        </p:txBody>
      </p:sp>
      <p:sp>
        <p:nvSpPr>
          <p:cNvPr id="18" name="retrieval-title-1">
            <a:extLst xmlns:a="http://schemas.openxmlformats.org/drawingml/2006/main">
              <a:ext uri="{FF2B5EF4-FFF2-40B4-BE49-F238E27FC236}">
                <a16:creationId xmlns:a16="http://schemas.microsoft.com/office/drawing/2014/main" id="{7B92A633-44D1-4BD8-A471-F858766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96675"/>
            <a:ext cx="600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19" name="retrieval-body-1">
            <a:extLst xmlns:a="http://schemas.openxmlformats.org/drawingml/2006/main">
              <a:ext uri="{FF2B5EF4-FFF2-40B4-BE49-F238E27FC236}">
                <a16:creationId xmlns:a16="http://schemas.microsoft.com/office/drawing/2014/main" id="{E8E208D0-4B17-48E4-89F8-651ACE0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8110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20" name="retrieval-title-2">
            <a:extLst xmlns:a="http://schemas.openxmlformats.org/drawingml/2006/main">
              <a:ext uri="{FF2B5EF4-FFF2-40B4-BE49-F238E27FC236}">
                <a16:creationId xmlns:a16="http://schemas.microsoft.com/office/drawing/2014/main" id="{F14888DE-1E34-4946-BF3B-3FEA5DA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63475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21" name="retrieval-body-2">
            <a:extLst xmlns:a="http://schemas.openxmlformats.org/drawingml/2006/main">
              <a:ext uri="{FF2B5EF4-FFF2-40B4-BE49-F238E27FC236}">
                <a16:creationId xmlns:a16="http://schemas.microsoft.com/office/drawing/2014/main" id="{32F30DE4-6F1F-4902-8714-7F1725E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1540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ICML 2026 workshop · Accepted</a:t>
            </a:r>
          </a:p>
        </p:txBody>
      </p:sp>
      <p:sp>
        <p:nvSpPr>
          <p:cNvPr id="22" name="compression-panel">
            <a:extLst xmlns:a="http://schemas.openxmlformats.org/drawingml/2006/main">
              <a:ext uri="{FF2B5EF4-FFF2-40B4-BE49-F238E27FC236}">
                <a16:creationId xmlns:a16="http://schemas.microsoft.com/office/drawing/2014/main" id="{EB7F596F-CBD7-4D69-9E23-12288B9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620875"/>
            <a:ext cx="65722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D"/>
          </a:solidFill>
          <a:ln xmlns:a="http://schemas.openxmlformats.org/drawingml/2006/main" w="12383">
            <a:solidFill>
              <a:srgbClr val="996126"/>
            </a:solidFill>
            <a:prstDash val="solid"/>
          </a:ln>
        </p:spPr>
      </p:sp>
      <p:sp>
        <p:nvSpPr>
          <p:cNvPr id="23" name="compression-accent">
            <a:extLst xmlns:a="http://schemas.openxmlformats.org/drawingml/2006/main">
              <a:ext uri="{FF2B5EF4-FFF2-40B4-BE49-F238E27FC236}">
                <a16:creationId xmlns:a16="http://schemas.microsoft.com/office/drawing/2014/main" id="{B51F9E66-47A9-4471-A26E-616B8B5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620875"/>
            <a:ext cx="571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612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compression-heading">
            <a:extLst xmlns:a="http://schemas.openxmlformats.org/drawingml/2006/main">
              <a:ext uri="{FF2B5EF4-FFF2-40B4-BE49-F238E27FC236}">
                <a16:creationId xmlns:a16="http://schemas.microsoft.com/office/drawing/2014/main" id="{6B4699EE-5926-4BFD-BB62-A7C3EF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304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126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l">
              <a:defRPr sz="2175" b="1">
                <a:solidFill>
                  <a:srgbClr val="9961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96126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25" name="compression-title-0">
            <a:extLst xmlns:a="http://schemas.openxmlformats.org/drawingml/2006/main">
              <a:ext uri="{FF2B5EF4-FFF2-40B4-BE49-F238E27FC236}">
                <a16:creationId xmlns:a16="http://schemas.microsoft.com/office/drawing/2014/main" id="{DD4A9E36-8795-4CB7-898E-2E1A752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25775"/>
            <a:ext cx="600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Temporal tokenization</a:t>
            </a:r>
          </a:p>
        </p:txBody>
      </p:sp>
      <p:sp>
        <p:nvSpPr>
          <p:cNvPr id="26" name="compression-body-0">
            <a:extLst xmlns:a="http://schemas.openxmlformats.org/drawingml/2006/main">
              <a:ext uri="{FF2B5EF4-FFF2-40B4-BE49-F238E27FC236}">
                <a16:creationId xmlns:a16="http://schemas.microsoft.com/office/drawing/2014/main" id="{00730832-E451-4113-8EFD-99B2C1A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4010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Current research for foundation and world models</a:t>
            </a:r>
          </a:p>
        </p:txBody>
      </p:sp>
      <p:sp>
        <p:nvSpPr>
          <p:cNvPr id="27" name="compression-title-1">
            <a:extLst xmlns:a="http://schemas.openxmlformats.org/drawingml/2006/main">
              <a:ext uri="{FF2B5EF4-FFF2-40B4-BE49-F238E27FC236}">
                <a16:creationId xmlns:a16="http://schemas.microsoft.com/office/drawing/2014/main" id="{A0225884-FEF5-4013-B375-1C9CCF0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44925"/>
            <a:ext cx="600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28" name="compression-body-1">
            <a:extLst xmlns:a="http://schemas.openxmlformats.org/drawingml/2006/main">
              <a:ext uri="{FF2B5EF4-FFF2-40B4-BE49-F238E27FC236}">
                <a16:creationId xmlns:a16="http://schemas.microsoft.com/office/drawing/2014/main" id="{F0E0AC8C-BFD9-45EA-8F71-026FC7F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0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Research software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Context compression and task memory</a:t>
            </a:r>
          </a:p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Task-oriented records with selected source text</a:t>
            </a:r>
          </a:p>
        </p:txBody>
      </p:sp>
      <p:sp>
        <p:nvSpPr>
          <p:cNvPr id="29" name="compression-title-2">
            <a:extLst xmlns:a="http://schemas.openxmlformats.org/drawingml/2006/main">
              <a:ext uri="{FF2B5EF4-FFF2-40B4-BE49-F238E27FC236}">
                <a16:creationId xmlns:a16="http://schemas.microsoft.com/office/drawing/2014/main" id="{69C282BE-3ABA-4FE8-A077-0862915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859375"/>
            <a:ext cx="600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Symbolic encoding</a:t>
            </a:r>
          </a:p>
        </p:txBody>
      </p:sp>
      <p:sp>
        <p:nvSpPr>
          <p:cNvPr id="30" name="compression-body-2">
            <a:extLst xmlns:a="http://schemas.openxmlformats.org/drawingml/2006/main">
              <a:ext uri="{FF2B5EF4-FFF2-40B4-BE49-F238E27FC236}">
                <a16:creationId xmlns:a16="http://schemas.microsoft.com/office/drawing/2014/main" id="{239ED18B-E3DE-4535-BB19-DF9D24D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7370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Literature examples: PAA, SAX and SAA-SAX</a:t>
            </a:r>
          </a:p>
        </p:txBody>
      </p:sp>
      <p:sp>
        <p:nvSpPr>
          <p:cNvPr id="31" name="prediction-panel">
            <a:extLst xmlns:a="http://schemas.openxmlformats.org/drawingml/2006/main">
              <a:ext uri="{FF2B5EF4-FFF2-40B4-BE49-F238E27FC236}">
                <a16:creationId xmlns:a16="http://schemas.microsoft.com/office/drawing/2014/main" id="{0829EC7F-AD4C-4FE5-BEB6-C528C187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193000"/>
            <a:ext cx="65722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FA"/>
          </a:solidFill>
          <a:ln xmlns:a="http://schemas.openxmlformats.org/drawingml/2006/main" w="12383">
            <a:solidFill>
              <a:srgbClr val="66518A"/>
            </a:solidFill>
            <a:prstDash val="solid"/>
          </a:ln>
        </p:spPr>
      </p:sp>
      <p:sp>
        <p:nvSpPr>
          <p:cNvPr id="32" name="prediction-accent">
            <a:extLst xmlns:a="http://schemas.openxmlformats.org/drawingml/2006/main">
              <a:ext uri="{FF2B5EF4-FFF2-40B4-BE49-F238E27FC236}">
                <a16:creationId xmlns:a16="http://schemas.microsoft.com/office/drawing/2014/main" id="{20A1CA8B-2CD4-482C-97B8-E1283DD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193000"/>
            <a:ext cx="571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18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prediction-heading">
            <a:extLst xmlns:a="http://schemas.openxmlformats.org/drawingml/2006/main">
              <a:ext uri="{FF2B5EF4-FFF2-40B4-BE49-F238E27FC236}">
                <a16:creationId xmlns:a16="http://schemas.microsoft.com/office/drawing/2014/main" id="{B4A7D844-63AC-4463-8B5C-EB90878F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025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518A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l">
              <a:defRPr sz="2175" b="1">
                <a:solidFill>
                  <a:srgbClr val="6651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518A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34" name="prediction-title-0">
            <a:extLst xmlns:a="http://schemas.openxmlformats.org/drawingml/2006/main">
              <a:ext uri="{FF2B5EF4-FFF2-40B4-BE49-F238E27FC236}">
                <a16:creationId xmlns:a16="http://schemas.microsoft.com/office/drawing/2014/main" id="{6182C17D-BBAD-46AA-AFEE-6A6F9A1D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97900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35" name="prediction-body-0">
            <a:extLst xmlns:a="http://schemas.openxmlformats.org/drawingml/2006/main">
              <a:ext uri="{FF2B5EF4-FFF2-40B4-BE49-F238E27FC236}">
                <a16:creationId xmlns:a16="http://schemas.microsoft.com/office/drawing/2014/main" id="{79965D89-F180-44CD-B249-71A355E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93175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Taxi demand prediction · IJCNN 2020</a:t>
            </a:r>
          </a:p>
        </p:txBody>
      </p:sp>
      <p:sp>
        <p:nvSpPr>
          <p:cNvPr id="36" name="prediction-title-1">
            <a:extLst xmlns:a="http://schemas.openxmlformats.org/drawingml/2006/main">
              <a:ext uri="{FF2B5EF4-FFF2-40B4-BE49-F238E27FC236}">
                <a16:creationId xmlns:a16="http://schemas.microsoft.com/office/drawing/2014/main" id="{78634229-9BC7-4248-B005-4CE154C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50363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37" name="prediction-body-1">
            <a:extLst xmlns:a="http://schemas.openxmlformats.org/drawingml/2006/main">
              <a:ext uri="{FF2B5EF4-FFF2-40B4-BE49-F238E27FC236}">
                <a16:creationId xmlns:a16="http://schemas.microsoft.com/office/drawing/2014/main" id="{3D6EDDDF-41B4-488D-9A6F-5CB4321B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245638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Online multi-output regression · ICONIP 2023</a:t>
            </a:r>
          </a:p>
        </p:txBody>
      </p:sp>
      <p:sp>
        <p:nvSpPr>
          <p:cNvPr id="38" name="prediction-title-2">
            <a:extLst xmlns:a="http://schemas.openxmlformats.org/drawingml/2006/main">
              <a:ext uri="{FF2B5EF4-FFF2-40B4-BE49-F238E27FC236}">
                <a16:creationId xmlns:a16="http://schemas.microsoft.com/office/drawing/2014/main" id="{61A98346-BFF0-4400-9EA2-D46E68CE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028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39" name="prediction-body-2">
            <a:extLst xmlns:a="http://schemas.openxmlformats.org/drawingml/2006/main">
              <a:ext uri="{FF2B5EF4-FFF2-40B4-BE49-F238E27FC236}">
                <a16:creationId xmlns:a16="http://schemas.microsoft.com/office/drawing/2014/main" id="{8C254E4B-3D07-4DEE-9CC6-8C6BE554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98100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COVID-19 spatiotemporal prediction · Heliyon 2023</a:t>
            </a:r>
          </a:p>
        </p:txBody>
      </p:sp>
      <p:sp>
        <p:nvSpPr>
          <p:cNvPr id="40" name="prediction-title-3">
            <a:extLst xmlns:a="http://schemas.openxmlformats.org/drawingml/2006/main">
              <a:ext uri="{FF2B5EF4-FFF2-40B4-BE49-F238E27FC236}">
                <a16:creationId xmlns:a16="http://schemas.microsoft.com/office/drawing/2014/main" id="{F3584E6E-59EF-4156-A782-DD8E907E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55288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41" name="prediction-body-3">
            <a:extLst xmlns:a="http://schemas.openxmlformats.org/drawingml/2006/main">
              <a:ext uri="{FF2B5EF4-FFF2-40B4-BE49-F238E27FC236}">
                <a16:creationId xmlns:a16="http://schemas.microsoft.com/office/drawing/2014/main" id="{8648023D-8D49-4F57-8101-31B4C266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50563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Interpretable multi-target regression · ICONIP 2022</a:t>
            </a:r>
          </a:p>
        </p:txBody>
      </p:sp>
      <p:sp>
        <p:nvSpPr>
          <p:cNvPr id="42" name="prediction-title-4">
            <a:extLst xmlns:a="http://schemas.openxmlformats.org/drawingml/2006/main">
              <a:ext uri="{FF2B5EF4-FFF2-40B4-BE49-F238E27FC236}">
                <a16:creationId xmlns:a16="http://schemas.microsoft.com/office/drawing/2014/main" id="{33BDD9B5-EBD2-4014-8973-1BE54E9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0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43" name="prediction-body-4">
            <a:extLst xmlns:a="http://schemas.openxmlformats.org/drawingml/2006/main">
              <a:ext uri="{FF2B5EF4-FFF2-40B4-BE49-F238E27FC236}">
                <a16:creationId xmlns:a16="http://schemas.microsoft.com/office/drawing/2014/main" id="{0B234E31-245C-4515-9E27-6B7B2BED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03025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Interpretable epigenetic age regression · BIBM 2024</a:t>
            </a:r>
          </a:p>
        </p:txBody>
      </p:sp>
      <p:sp>
        <p:nvSpPr>
          <p:cNvPr id="44" name="prediction-title-5">
            <a:extLst xmlns:a="http://schemas.openxmlformats.org/drawingml/2006/main">
              <a:ext uri="{FF2B5EF4-FFF2-40B4-BE49-F238E27FC236}">
                <a16:creationId xmlns:a16="http://schemas.microsoft.com/office/drawing/2014/main" id="{09148A2C-069A-4D33-892D-27C129EE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60213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45" name="prediction-body-5">
            <a:extLst xmlns:a="http://schemas.openxmlformats.org/drawingml/2006/main">
              <a:ext uri="{FF2B5EF4-FFF2-40B4-BE49-F238E27FC236}">
                <a16:creationId xmlns:a16="http://schemas.microsoft.com/office/drawing/2014/main" id="{FE61FA31-C1D9-4916-899A-6218CD1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55488"/>
            <a:ext cx="6000750" cy="233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8" b="0">
                <a:solidFill>
                  <a:srgbClr val="4A5A6A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4A5A6A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</p:spTree>
    <p:extLst>
      <p:ext uri="{BB962C8B-B14F-4D97-AF65-F5344CB8AC3E}">
        <p14:creationId xmlns:p14="http://schemas.microsoft.com/office/powerpoint/2010/main" val="1313858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2026-10-15T11:12:36.5280000Z</dcterms:created>
  <dcterms:modified xsi:type="dcterms:W3CDTF">2026-10-15T11:12:36.5280000Z</dcterms:modified>
</coreProperties>
</file>